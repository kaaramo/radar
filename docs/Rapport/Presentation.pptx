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udio/mpeg" Extension="mp3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x="18288000" cy="10287000"/>
  <p:notesSz cx="6858000" cy="9144000"/>
  <p:embeddedFontLst>
    <p:embeddedFont>
      <p:font typeface="Anton" charset="1" panose="00000500000000000000"/>
      <p:regular r:id="rId46"/>
    </p:embeddedFont>
    <p:embeddedFont>
      <p:font typeface="Glacial Indifference" charset="1" panose="00000000000000000000"/>
      <p:regular r:id="rId47"/>
    </p:embeddedFont>
    <p:embeddedFont>
      <p:font typeface="Times New Roman MT" charset="1" panose="02030502070405020303"/>
      <p:regular r:id="rId4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fonts/font46.fntdata" Type="http://schemas.openxmlformats.org/officeDocument/2006/relationships/font"/><Relationship Id="rId47" Target="fonts/font47.fntdata" Type="http://schemas.openxmlformats.org/officeDocument/2006/relationships/font"/><Relationship Id="rId48" Target="fonts/font48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33.jpeg" Type="http://schemas.openxmlformats.org/officeDocument/2006/relationships/image"/><Relationship Id="rId6" Target="../media/aAD6ES4bfG4.mp3" Type="http://schemas.microsoft.com/office/2007/relationships/media"/><Relationship Id="rId7" Target="../media/aAD6ES4bfG4.mp3" Type="http://schemas.openxmlformats.org/officeDocument/2006/relationships/audio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sv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19.png" Type="http://schemas.openxmlformats.org/officeDocument/2006/relationships/image"/><Relationship Id="rId8" Target="../media/image13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16.pn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png" Type="http://schemas.openxmlformats.org/officeDocument/2006/relationships/image"/><Relationship Id="rId12" Target="../media/image18.svg" Type="http://schemas.openxmlformats.org/officeDocument/2006/relationships/image"/><Relationship Id="rId13" Target="../media/image19.pn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20.pn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20.pn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png" Type="http://schemas.openxmlformats.org/officeDocument/2006/relationships/image"/><Relationship Id="rId12" Target="../media/image18.svg" Type="http://schemas.openxmlformats.org/officeDocument/2006/relationships/image"/><Relationship Id="rId13" Target="../media/image19.png" Type="http://schemas.openxmlformats.org/officeDocument/2006/relationships/image"/><Relationship Id="rId14" Target="../media/image23.png" Type="http://schemas.openxmlformats.org/officeDocument/2006/relationships/image"/><Relationship Id="rId15" Target="../media/image24.png" Type="http://schemas.openxmlformats.org/officeDocument/2006/relationships/image"/><Relationship Id="rId16" Target="../media/image25.sv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20.pn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23.pn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3.png" Type="http://schemas.openxmlformats.org/officeDocument/2006/relationships/image"/><Relationship Id="rId12" Target="../media/image24.png" Type="http://schemas.openxmlformats.org/officeDocument/2006/relationships/image"/><Relationship Id="rId13" Target="../media/image25.sv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16.pn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6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6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7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Relationship Id="rId6" Target="../media/image28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8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Relationship Id="rId6" Target="../media/image28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35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490731" cy="1490731"/>
          </a:xfrm>
          <a:custGeom>
            <a:avLst/>
            <a:gdLst/>
            <a:ahLst/>
            <a:cxnLst/>
            <a:rect r="r" b="b" t="t" l="l"/>
            <a:pathLst>
              <a:path h="1490731" w="1490731">
                <a:moveTo>
                  <a:pt x="0" y="0"/>
                </a:moveTo>
                <a:lnTo>
                  <a:pt x="1490731" y="0"/>
                </a:lnTo>
                <a:lnTo>
                  <a:pt x="1490731" y="1490731"/>
                </a:lnTo>
                <a:lnTo>
                  <a:pt x="0" y="1490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748963" y="759463"/>
            <a:ext cx="7045875" cy="7045875"/>
          </a:xfrm>
          <a:custGeom>
            <a:avLst/>
            <a:gdLst/>
            <a:ahLst/>
            <a:cxnLst/>
            <a:rect r="r" b="b" t="t" l="l"/>
            <a:pathLst>
              <a:path h="7045875" w="7045875">
                <a:moveTo>
                  <a:pt x="0" y="0"/>
                </a:moveTo>
                <a:lnTo>
                  <a:pt x="7045875" y="0"/>
                </a:lnTo>
                <a:lnTo>
                  <a:pt x="7045875" y="7045874"/>
                </a:lnTo>
                <a:lnTo>
                  <a:pt x="0" y="70458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363760" y="5225355"/>
            <a:ext cx="7904355" cy="3025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78"/>
              </a:lnSpc>
            </a:pPr>
            <a:r>
              <a:rPr lang="en-US" sz="5770">
                <a:solidFill>
                  <a:srgbClr val="051C2C"/>
                </a:solidFill>
                <a:latin typeface="Anton"/>
                <a:ea typeface="Anton"/>
                <a:cs typeface="Anton"/>
                <a:sym typeface="Anton"/>
              </a:rPr>
              <a:t>PLATEFORME DE VEILLE CONCURRENTIELLE AUTONOME</a:t>
            </a:r>
          </a:p>
          <a:p>
            <a:pPr algn="l" marL="0" indent="0" lvl="0">
              <a:lnSpc>
                <a:spcPts val="8078"/>
              </a:lnSpc>
            </a:pPr>
            <a:r>
              <a:rPr lang="en-US" sz="5770">
                <a:solidFill>
                  <a:srgbClr val="051C2C"/>
                </a:solidFill>
                <a:latin typeface="Anton"/>
                <a:ea typeface="Anton"/>
                <a:cs typeface="Anton"/>
                <a:sym typeface="Anton"/>
              </a:rPr>
              <a:t>PROPULSÉE PAR AGENT IA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924169" y="3166050"/>
            <a:ext cx="8501941" cy="1873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372"/>
              </a:lnSpc>
            </a:pPr>
            <a:r>
              <a:rPr lang="en-US" sz="1098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RADAR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0" y="8921290"/>
            <a:ext cx="2876586" cy="1158944"/>
            <a:chOff x="0" y="0"/>
            <a:chExt cx="3835448" cy="1545259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3353117" cy="5058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38"/>
                </a:lnSpc>
                <a:spcBef>
                  <a:spcPct val="0"/>
                </a:spcBef>
              </a:pPr>
              <a:r>
                <a:rPr lang="en-US" sz="2099" spc="41">
                  <a:solidFill>
                    <a:srgbClr val="FFFFFF">
                      <a:alpha val="68627"/>
                    </a:srgbClr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Présenté par: 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03553" y="480618"/>
              <a:ext cx="3731895" cy="10646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3388" indent="-226694" lvl="1">
                <a:lnSpc>
                  <a:spcPts val="3338"/>
                </a:lnSpc>
                <a:buFont typeface="Arial"/>
                <a:buChar char="•"/>
              </a:pPr>
              <a:r>
                <a:rPr lang="en-US" sz="2099" spc="41">
                  <a:solidFill>
                    <a:srgbClr val="FFFFFF">
                      <a:alpha val="68627"/>
                    </a:srgbClr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KONATE BACHIROU </a:t>
              </a:r>
            </a:p>
            <a:p>
              <a:pPr algn="l" marL="453388" indent="-226694" lvl="1">
                <a:lnSpc>
                  <a:spcPts val="3338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99" spc="41">
                  <a:solidFill>
                    <a:srgbClr val="FFFFFF">
                      <a:alpha val="68627"/>
                    </a:srgbClr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SYLLA KARAMO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6056221" y="9370020"/>
            <a:ext cx="1788381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Prof WADIAI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090490" y="9548710"/>
            <a:ext cx="4372889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Module: Technique de veille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472162" y="297309"/>
            <a:ext cx="2517458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BDIA2 2025-2026</a:t>
            </a:r>
          </a:p>
        </p:txBody>
      </p:sp>
      <p:pic>
        <p:nvPicPr>
          <p:cNvPr name="Picture 12" id="12">
            <a:hlinkClick action="ppaction://media"/>
          </p:cNvPr>
          <p:cNvPicPr>
            <a:picLocks noChangeAspect="true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6">
                  <p14:trim st="0.0000" end="104686.2920"/>
                  <p14:fade in="100"/>
                </p14:media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629650" y="4629150"/>
            <a:ext cx="1028700" cy="1028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cmd cmd="playFrom(0.0)">
              <p:cBhvr>
                <p:cTn/>
                <p:tgtEl>
                  <p:spTgt spid="12"/>
                </p:tgtEl>
              </p:cBhvr>
            </p:cmd>
            <p:audio>
              <p:cMediaNode vol="100000" showWhenStopped="false">
                <p:cTn/>
                <p:tgtEl>
                  <p:spTgt spid="12"/>
                </p:tgtEl>
              </p:cMediaNode>
            </p:audio>
          </p:childTnLst>
        </p:cTn>
      </p:par>
    </p:tnLst>
  </p:timing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35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773373"/>
            <a:ext cx="3359716" cy="2370127"/>
            <a:chOff x="0" y="0"/>
            <a:chExt cx="4479621" cy="31601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79621" cy="3160169"/>
            </a:xfrm>
            <a:custGeom>
              <a:avLst/>
              <a:gdLst/>
              <a:ahLst/>
              <a:cxnLst/>
              <a:rect r="r" b="b" t="t" l="l"/>
              <a:pathLst>
                <a:path h="3160169" w="4479621">
                  <a:moveTo>
                    <a:pt x="0" y="0"/>
                  </a:moveTo>
                  <a:lnTo>
                    <a:pt x="4479621" y="0"/>
                  </a:lnTo>
                  <a:lnTo>
                    <a:pt x="4479621" y="3160169"/>
                  </a:lnTo>
                  <a:lnTo>
                    <a:pt x="0" y="3160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98656" y="650253"/>
              <a:ext cx="3960008" cy="1510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40"/>
                </a:lnSpc>
                <a:spcBef>
                  <a:spcPct val="0"/>
                </a:spcBef>
              </a:pPr>
              <a:r>
                <a:rPr lang="en-US" sz="2981" spc="59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1.Intruduction et vue d’ensemble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869044" y="230261"/>
            <a:ext cx="8501941" cy="1434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733"/>
              </a:lnSpc>
            </a:pPr>
            <a:r>
              <a:rPr lang="en-US" sz="838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SOMMAIRE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090490" y="9548710"/>
            <a:ext cx="4372889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Module: Technique de veille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472162" y="297309"/>
            <a:ext cx="2517458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BDIA2 2025-2026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371175" y="6671974"/>
            <a:ext cx="3359716" cy="2370127"/>
            <a:chOff x="0" y="0"/>
            <a:chExt cx="4479621" cy="31601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79621" cy="3160169"/>
            </a:xfrm>
            <a:custGeom>
              <a:avLst/>
              <a:gdLst/>
              <a:ahLst/>
              <a:cxnLst/>
              <a:rect r="r" b="b" t="t" l="l"/>
              <a:pathLst>
                <a:path h="3160169" w="4479621">
                  <a:moveTo>
                    <a:pt x="0" y="0"/>
                  </a:moveTo>
                  <a:lnTo>
                    <a:pt x="4479621" y="0"/>
                  </a:lnTo>
                  <a:lnTo>
                    <a:pt x="4479621" y="3160169"/>
                  </a:lnTo>
                  <a:lnTo>
                    <a:pt x="0" y="3160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198656" y="650253"/>
              <a:ext cx="3960008" cy="1510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40"/>
                </a:lnSpc>
                <a:spcBef>
                  <a:spcPct val="0"/>
                </a:spcBef>
              </a:pPr>
              <a:r>
                <a:rPr lang="en-US" sz="2981" spc="59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6.Conclusion et perspective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079579" y="6671974"/>
            <a:ext cx="3359716" cy="2370127"/>
            <a:chOff x="0" y="0"/>
            <a:chExt cx="4479621" cy="316016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79621" cy="3160169"/>
            </a:xfrm>
            <a:custGeom>
              <a:avLst/>
              <a:gdLst/>
              <a:ahLst/>
              <a:cxnLst/>
              <a:rect r="r" b="b" t="t" l="l"/>
              <a:pathLst>
                <a:path h="3160169" w="4479621">
                  <a:moveTo>
                    <a:pt x="0" y="0"/>
                  </a:moveTo>
                  <a:lnTo>
                    <a:pt x="4479621" y="0"/>
                  </a:lnTo>
                  <a:lnTo>
                    <a:pt x="4479621" y="3160169"/>
                  </a:lnTo>
                  <a:lnTo>
                    <a:pt x="0" y="3160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259807" y="597042"/>
              <a:ext cx="3960008" cy="1510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40"/>
                </a:lnSpc>
                <a:spcBef>
                  <a:spcPct val="0"/>
                </a:spcBef>
              </a:pPr>
              <a:r>
                <a:rPr lang="en-US" sz="2981" spc="59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5.Tests et Demonstrations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30347" y="6671974"/>
            <a:ext cx="3359716" cy="2370127"/>
            <a:chOff x="0" y="0"/>
            <a:chExt cx="4479621" cy="316016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479621" cy="3160169"/>
            </a:xfrm>
            <a:custGeom>
              <a:avLst/>
              <a:gdLst/>
              <a:ahLst/>
              <a:cxnLst/>
              <a:rect r="r" b="b" t="t" l="l"/>
              <a:pathLst>
                <a:path h="3160169" w="4479621">
                  <a:moveTo>
                    <a:pt x="0" y="0"/>
                  </a:moveTo>
                  <a:lnTo>
                    <a:pt x="4479621" y="0"/>
                  </a:lnTo>
                  <a:lnTo>
                    <a:pt x="4479621" y="3160169"/>
                  </a:lnTo>
                  <a:lnTo>
                    <a:pt x="0" y="3160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198656" y="650253"/>
              <a:ext cx="3960008" cy="1510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40"/>
                </a:lnSpc>
                <a:spcBef>
                  <a:spcPct val="0"/>
                </a:spcBef>
              </a:pPr>
              <a:r>
                <a:rPr lang="en-US" sz="2981" spc="59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4.Conception de l’application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079579" y="2773373"/>
            <a:ext cx="3359716" cy="2370127"/>
            <a:chOff x="0" y="0"/>
            <a:chExt cx="4479621" cy="316016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79621" cy="3160169"/>
            </a:xfrm>
            <a:custGeom>
              <a:avLst/>
              <a:gdLst/>
              <a:ahLst/>
              <a:cxnLst/>
              <a:rect r="r" b="b" t="t" l="l"/>
              <a:pathLst>
                <a:path h="3160169" w="4479621">
                  <a:moveTo>
                    <a:pt x="0" y="0"/>
                  </a:moveTo>
                  <a:lnTo>
                    <a:pt x="4479621" y="0"/>
                  </a:lnTo>
                  <a:lnTo>
                    <a:pt x="4479621" y="3160169"/>
                  </a:lnTo>
                  <a:lnTo>
                    <a:pt x="0" y="3160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198656" y="650253"/>
              <a:ext cx="3960008" cy="1510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40"/>
                </a:lnSpc>
                <a:spcBef>
                  <a:spcPct val="0"/>
                </a:spcBef>
              </a:pPr>
              <a:r>
                <a:rPr lang="en-US" sz="2981" spc="59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2.Architecture globale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371175" y="2773373"/>
            <a:ext cx="3359716" cy="2370127"/>
            <a:chOff x="0" y="0"/>
            <a:chExt cx="4479621" cy="316016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479621" cy="3160169"/>
            </a:xfrm>
            <a:custGeom>
              <a:avLst/>
              <a:gdLst/>
              <a:ahLst/>
              <a:cxnLst/>
              <a:rect r="r" b="b" t="t" l="l"/>
              <a:pathLst>
                <a:path h="3160169" w="4479621">
                  <a:moveTo>
                    <a:pt x="0" y="0"/>
                  </a:moveTo>
                  <a:lnTo>
                    <a:pt x="4479621" y="0"/>
                  </a:lnTo>
                  <a:lnTo>
                    <a:pt x="4479621" y="3160169"/>
                  </a:lnTo>
                  <a:lnTo>
                    <a:pt x="0" y="3160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198656" y="650253"/>
              <a:ext cx="3960008" cy="1510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40"/>
                </a:lnSpc>
                <a:spcBef>
                  <a:spcPct val="0"/>
                </a:spcBef>
              </a:pPr>
              <a:r>
                <a:rPr lang="en-US" sz="2981" spc="59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3.Implementation moteur Agent</a:t>
              </a:r>
            </a:p>
          </p:txBody>
        </p:sp>
      </p:grpSp>
    </p:spTree>
  </p:cSld>
  <p:clrMapOvr>
    <a:masterClrMapping/>
  </p:clrMapOvr>
  <p:transition spd="slow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35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219561" y="1575753"/>
            <a:ext cx="10114748" cy="7135495"/>
            <a:chOff x="0" y="0"/>
            <a:chExt cx="13486330" cy="95139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486330" cy="9513993"/>
            </a:xfrm>
            <a:custGeom>
              <a:avLst/>
              <a:gdLst/>
              <a:ahLst/>
              <a:cxnLst/>
              <a:rect r="r" b="b" t="t" l="l"/>
              <a:pathLst>
                <a:path h="9513993" w="13486330">
                  <a:moveTo>
                    <a:pt x="0" y="0"/>
                  </a:moveTo>
                  <a:lnTo>
                    <a:pt x="13486330" y="0"/>
                  </a:lnTo>
                  <a:lnTo>
                    <a:pt x="13486330" y="9513993"/>
                  </a:lnTo>
                  <a:lnTo>
                    <a:pt x="0" y="95139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598074" y="1968386"/>
              <a:ext cx="11921985" cy="45361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271"/>
                </a:lnSpc>
                <a:spcBef>
                  <a:spcPct val="0"/>
                </a:spcBef>
              </a:pPr>
              <a:r>
                <a:rPr lang="en-US" sz="8975" spc="179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1.Intruduction et vue d’ensemble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090490" y="9548710"/>
            <a:ext cx="4372889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Module: Technique de veille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472162" y="297309"/>
            <a:ext cx="2517458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BDIA2 2025-2026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35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090490" y="9548710"/>
            <a:ext cx="4372889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Module: Technique de veille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472162" y="297309"/>
            <a:ext cx="2517458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BDIA2 2025-2026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369046" y="-622510"/>
            <a:ext cx="4292548" cy="3028198"/>
            <a:chOff x="0" y="0"/>
            <a:chExt cx="5723397" cy="403759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723397" cy="4037597"/>
            </a:xfrm>
            <a:custGeom>
              <a:avLst/>
              <a:gdLst/>
              <a:ahLst/>
              <a:cxnLst/>
              <a:rect r="r" b="b" t="t" l="l"/>
              <a:pathLst>
                <a:path h="4037597" w="5723397">
                  <a:moveTo>
                    <a:pt x="0" y="0"/>
                  </a:moveTo>
                  <a:lnTo>
                    <a:pt x="5723397" y="0"/>
                  </a:lnTo>
                  <a:lnTo>
                    <a:pt x="5723397" y="4037597"/>
                  </a:lnTo>
                  <a:lnTo>
                    <a:pt x="0" y="40375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253814" y="833958"/>
              <a:ext cx="5059513" cy="19264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056"/>
                </a:lnSpc>
                <a:spcBef>
                  <a:spcPct val="0"/>
                </a:spcBef>
              </a:pPr>
              <a:r>
                <a:rPr lang="en-US" sz="3809" spc="76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1.Intruduction et vue d’ensemble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719683" y="1867569"/>
            <a:ext cx="309017" cy="264069"/>
          </a:xfrm>
          <a:custGeom>
            <a:avLst/>
            <a:gdLst/>
            <a:ahLst/>
            <a:cxnLst/>
            <a:rect r="r" b="b" t="t" l="l"/>
            <a:pathLst>
              <a:path h="264069" w="309017">
                <a:moveTo>
                  <a:pt x="0" y="0"/>
                </a:moveTo>
                <a:lnTo>
                  <a:pt x="309017" y="0"/>
                </a:lnTo>
                <a:lnTo>
                  <a:pt x="309017" y="264069"/>
                </a:lnTo>
                <a:lnTo>
                  <a:pt x="0" y="2640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35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090490" y="9548710"/>
            <a:ext cx="4372889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Module: Technique de veille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472162" y="297309"/>
            <a:ext cx="2517458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BDIA2 2025-2026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369046" y="-622510"/>
            <a:ext cx="4292548" cy="3028198"/>
            <a:chOff x="0" y="0"/>
            <a:chExt cx="5723397" cy="403759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723397" cy="4037597"/>
            </a:xfrm>
            <a:custGeom>
              <a:avLst/>
              <a:gdLst/>
              <a:ahLst/>
              <a:cxnLst/>
              <a:rect r="r" b="b" t="t" l="l"/>
              <a:pathLst>
                <a:path h="4037597" w="5723397">
                  <a:moveTo>
                    <a:pt x="0" y="0"/>
                  </a:moveTo>
                  <a:lnTo>
                    <a:pt x="5723397" y="0"/>
                  </a:lnTo>
                  <a:lnTo>
                    <a:pt x="5723397" y="4037597"/>
                  </a:lnTo>
                  <a:lnTo>
                    <a:pt x="0" y="40375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253814" y="833958"/>
              <a:ext cx="5059513" cy="19264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056"/>
                </a:lnSpc>
                <a:spcBef>
                  <a:spcPct val="0"/>
                </a:spcBef>
              </a:pPr>
              <a:r>
                <a:rPr lang="en-US" sz="3809" spc="76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1.Intruduction et vue d’ensemble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589805" y="3527988"/>
            <a:ext cx="4815191" cy="4114800"/>
          </a:xfrm>
          <a:custGeom>
            <a:avLst/>
            <a:gdLst/>
            <a:ahLst/>
            <a:cxnLst/>
            <a:rect r="r" b="b" t="t" l="l"/>
            <a:pathLst>
              <a:path h="4114800" w="4815191">
                <a:moveTo>
                  <a:pt x="0" y="0"/>
                </a:moveTo>
                <a:lnTo>
                  <a:pt x="4815192" y="0"/>
                </a:lnTo>
                <a:lnTo>
                  <a:pt x="48151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123835">
            <a:off x="6437116" y="4559647"/>
            <a:ext cx="823432" cy="2058581"/>
          </a:xfrm>
          <a:custGeom>
            <a:avLst/>
            <a:gdLst/>
            <a:ahLst/>
            <a:cxnLst/>
            <a:rect r="r" b="b" t="t" l="l"/>
            <a:pathLst>
              <a:path h="2058581" w="823432">
                <a:moveTo>
                  <a:pt x="0" y="0"/>
                </a:moveTo>
                <a:lnTo>
                  <a:pt x="823432" y="0"/>
                </a:lnTo>
                <a:lnTo>
                  <a:pt x="823432" y="2058581"/>
                </a:lnTo>
                <a:lnTo>
                  <a:pt x="0" y="20585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807962" y="2402515"/>
            <a:ext cx="11069456" cy="2979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2589" indent="-316295" lvl="1">
              <a:lnSpc>
                <a:spcPts val="4658"/>
              </a:lnSpc>
              <a:buFont typeface="Arial"/>
              <a:buChar char="•"/>
            </a:pPr>
            <a:r>
              <a:rPr lang="en-US" sz="2930" spc="58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L’information</a:t>
            </a:r>
            <a:r>
              <a:rPr lang="en-US" sz="2930" spc="58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2930" spc="58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stratégique sur ses rivaux est publique  mais personne n'a le temps de la collecter, recouper et synthétiser efficacement.</a:t>
            </a:r>
          </a:p>
          <a:p>
            <a:pPr algn="l">
              <a:lnSpc>
                <a:spcPts val="4658"/>
              </a:lnSpc>
            </a:pPr>
          </a:p>
          <a:p>
            <a:pPr algn="l">
              <a:lnSpc>
                <a:spcPts val="4658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6807962" y="4173721"/>
            <a:ext cx="11069456" cy="179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1616" indent="-315808" lvl="1">
              <a:lnSpc>
                <a:spcPts val="4651"/>
              </a:lnSpc>
              <a:buFont typeface="Arial"/>
              <a:buChar char="•"/>
            </a:pPr>
            <a:r>
              <a:rPr lang="en-US" sz="2925" spc="58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La plupart des entreprises se contentent du bouche-à-oreille ou d'un tableur sans méthode. </a:t>
            </a:r>
          </a:p>
          <a:p>
            <a:pPr algn="l">
              <a:lnSpc>
                <a:spcPts val="4651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6807962" y="6208060"/>
            <a:ext cx="11480038" cy="238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1616" indent="-315808" lvl="1">
              <a:lnSpc>
                <a:spcPts val="4651"/>
              </a:lnSpc>
              <a:buFont typeface="Arial"/>
              <a:buChar char="•"/>
            </a:pPr>
            <a:r>
              <a:rPr lang="en-US" sz="2925" spc="58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Résultat : découverte tardive des changements, absence d'analyse structurée (SWOT, PESTEL), confusion entre rumeurs et faits, signaux faibles ignorés, aucune mémoire historique.</a:t>
            </a:r>
          </a:p>
          <a:p>
            <a:pPr algn="l">
              <a:lnSpc>
                <a:spcPts val="4651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269670" y="8848375"/>
            <a:ext cx="6358802" cy="983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7"/>
              </a:lnSpc>
              <a:spcBef>
                <a:spcPct val="0"/>
              </a:spcBef>
            </a:pPr>
            <a:r>
              <a:rPr lang="en-US" sz="2445" spc="48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Le besoin =  disposer d'une synthèse concurrentielle fiable, couvrant tout le cycle 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823657" y="1730137"/>
            <a:ext cx="919294" cy="356226"/>
          </a:xfrm>
          <a:custGeom>
            <a:avLst/>
            <a:gdLst/>
            <a:ahLst/>
            <a:cxnLst/>
            <a:rect r="r" b="b" t="t" l="l"/>
            <a:pathLst>
              <a:path h="356226" w="919294">
                <a:moveTo>
                  <a:pt x="0" y="0"/>
                </a:moveTo>
                <a:lnTo>
                  <a:pt x="919294" y="0"/>
                </a:lnTo>
                <a:lnTo>
                  <a:pt x="919294" y="356226"/>
                </a:lnTo>
                <a:lnTo>
                  <a:pt x="0" y="3562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35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69046" y="-622510"/>
            <a:ext cx="4292548" cy="3028198"/>
            <a:chOff x="0" y="0"/>
            <a:chExt cx="5723397" cy="40375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23397" cy="4037597"/>
            </a:xfrm>
            <a:custGeom>
              <a:avLst/>
              <a:gdLst/>
              <a:ahLst/>
              <a:cxnLst/>
              <a:rect r="r" b="b" t="t" l="l"/>
              <a:pathLst>
                <a:path h="4037597" w="5723397">
                  <a:moveTo>
                    <a:pt x="0" y="0"/>
                  </a:moveTo>
                  <a:lnTo>
                    <a:pt x="5723397" y="0"/>
                  </a:lnTo>
                  <a:lnTo>
                    <a:pt x="5723397" y="4037597"/>
                  </a:lnTo>
                  <a:lnTo>
                    <a:pt x="0" y="40375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253814" y="833958"/>
              <a:ext cx="5059513" cy="19264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056"/>
                </a:lnSpc>
                <a:spcBef>
                  <a:spcPct val="0"/>
                </a:spcBef>
              </a:pPr>
              <a:r>
                <a:rPr lang="en-US" sz="3809" spc="76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1.Intruduction et vue d’ensemble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97724" y="4747932"/>
            <a:ext cx="6128396" cy="2374754"/>
          </a:xfrm>
          <a:custGeom>
            <a:avLst/>
            <a:gdLst/>
            <a:ahLst/>
            <a:cxnLst/>
            <a:rect r="r" b="b" t="t" l="l"/>
            <a:pathLst>
              <a:path h="2374754" w="6128396">
                <a:moveTo>
                  <a:pt x="0" y="0"/>
                </a:moveTo>
                <a:lnTo>
                  <a:pt x="6128396" y="0"/>
                </a:lnTo>
                <a:lnTo>
                  <a:pt x="6128396" y="2374754"/>
                </a:lnTo>
                <a:lnTo>
                  <a:pt x="0" y="23747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090490" y="9548710"/>
            <a:ext cx="4372889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Module: Technique de veille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472162" y="297309"/>
            <a:ext cx="2517458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BDIA2 2025-2026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630921" y="2521213"/>
            <a:ext cx="10183709" cy="3414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9"/>
              </a:lnSpc>
            </a:pPr>
            <a:r>
              <a:rPr lang="en-US" sz="2805" spc="56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Livrer une plateforme capable de: </a:t>
            </a:r>
          </a:p>
          <a:p>
            <a:pPr algn="l" marL="605602" indent="-302801" lvl="1">
              <a:lnSpc>
                <a:spcPts val="4459"/>
              </a:lnSpc>
              <a:buFont typeface="Arial"/>
              <a:buChar char="•"/>
            </a:pPr>
            <a:r>
              <a:rPr lang="en-US" sz="2805" spc="56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Collecter des informations utiliateur </a:t>
            </a:r>
          </a:p>
          <a:p>
            <a:pPr algn="l" marL="605602" indent="-302801" lvl="1">
              <a:lnSpc>
                <a:spcPts val="4459"/>
              </a:lnSpc>
              <a:buFont typeface="Arial"/>
              <a:buChar char="•"/>
            </a:pPr>
            <a:r>
              <a:rPr lang="en-US" sz="2805" spc="56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Réaliser le cycle complet de veille </a:t>
            </a:r>
          </a:p>
          <a:p>
            <a:pPr algn="l" marL="605602" indent="-302801" lvl="1">
              <a:lnSpc>
                <a:spcPts val="4459"/>
              </a:lnSpc>
              <a:buFont typeface="Arial"/>
              <a:buChar char="•"/>
            </a:pPr>
            <a:r>
              <a:rPr lang="en-US" sz="2805" spc="56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d’analyser les résultats (SWOT, PESTEL) </a:t>
            </a:r>
          </a:p>
          <a:p>
            <a:pPr algn="l" marL="605602" indent="-302801" lvl="1">
              <a:lnSpc>
                <a:spcPts val="4459"/>
              </a:lnSpc>
              <a:buFont typeface="Arial"/>
              <a:buChar char="•"/>
            </a:pPr>
            <a:r>
              <a:rPr lang="en-US" sz="2805" spc="56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Proposer des actions concrètes </a:t>
            </a:r>
          </a:p>
          <a:p>
            <a:pPr algn="l" marL="605602" indent="-302801" lvl="1">
              <a:lnSpc>
                <a:spcPts val="4459"/>
              </a:lnSpc>
              <a:spcBef>
                <a:spcPct val="0"/>
              </a:spcBef>
              <a:buFont typeface="Arial"/>
              <a:buChar char="•"/>
            </a:pPr>
            <a:r>
              <a:rPr lang="en-US" sz="2805" spc="56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Fournir un rapport directement exploitable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02867" y="7509495"/>
            <a:ext cx="10183709" cy="1153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5602" indent="-302801" lvl="1">
              <a:lnSpc>
                <a:spcPts val="4459"/>
              </a:lnSpc>
              <a:spcBef>
                <a:spcPct val="0"/>
              </a:spcBef>
              <a:buFont typeface="Arial"/>
              <a:buChar char="•"/>
            </a:pPr>
            <a:r>
              <a:rPr lang="en-US" sz="2805" spc="56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La solution proposee s’articule autour d’un agent d’intelligence artificielle orchestre </a:t>
            </a:r>
            <a:r>
              <a:rPr lang="en-US" sz="2805" spc="56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par OpenClaw,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915301" y="6131219"/>
            <a:ext cx="10183709" cy="588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9"/>
              </a:lnSpc>
              <a:spcBef>
                <a:spcPct val="0"/>
              </a:spcBef>
            </a:pPr>
            <a:r>
              <a:rPr lang="en-US" sz="2805" spc="56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 manière 100% autonome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001141" y="1479121"/>
            <a:ext cx="601829" cy="514290"/>
          </a:xfrm>
          <a:custGeom>
            <a:avLst/>
            <a:gdLst/>
            <a:ahLst/>
            <a:cxnLst/>
            <a:rect r="r" b="b" t="t" l="l"/>
            <a:pathLst>
              <a:path h="514290" w="601829">
                <a:moveTo>
                  <a:pt x="0" y="0"/>
                </a:moveTo>
                <a:lnTo>
                  <a:pt x="601829" y="0"/>
                </a:lnTo>
                <a:lnTo>
                  <a:pt x="601829" y="514291"/>
                </a:lnTo>
                <a:lnTo>
                  <a:pt x="0" y="5142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35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69046" y="-622510"/>
            <a:ext cx="4292548" cy="3028198"/>
            <a:chOff x="0" y="0"/>
            <a:chExt cx="5723397" cy="40375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23397" cy="4037597"/>
            </a:xfrm>
            <a:custGeom>
              <a:avLst/>
              <a:gdLst/>
              <a:ahLst/>
              <a:cxnLst/>
              <a:rect r="r" b="b" t="t" l="l"/>
              <a:pathLst>
                <a:path h="4037597" w="5723397">
                  <a:moveTo>
                    <a:pt x="0" y="0"/>
                  </a:moveTo>
                  <a:lnTo>
                    <a:pt x="5723397" y="0"/>
                  </a:lnTo>
                  <a:lnTo>
                    <a:pt x="5723397" y="4037597"/>
                  </a:lnTo>
                  <a:lnTo>
                    <a:pt x="0" y="40375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253814" y="833958"/>
              <a:ext cx="5059513" cy="19264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056"/>
                </a:lnSpc>
                <a:spcBef>
                  <a:spcPct val="0"/>
                </a:spcBef>
              </a:pPr>
              <a:r>
                <a:rPr lang="en-US" sz="3809" spc="76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1.Intruduction et vue d’ensemble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01141" y="1479121"/>
            <a:ext cx="1541573" cy="597359"/>
          </a:xfrm>
          <a:custGeom>
            <a:avLst/>
            <a:gdLst/>
            <a:ahLst/>
            <a:cxnLst/>
            <a:rect r="r" b="b" t="t" l="l"/>
            <a:pathLst>
              <a:path h="597359" w="1541573">
                <a:moveTo>
                  <a:pt x="0" y="0"/>
                </a:moveTo>
                <a:lnTo>
                  <a:pt x="1541572" y="0"/>
                </a:lnTo>
                <a:lnTo>
                  <a:pt x="1541572" y="597360"/>
                </a:lnTo>
                <a:lnTo>
                  <a:pt x="0" y="5973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090490" y="9548710"/>
            <a:ext cx="4372889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Module: Technique de veille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472162" y="297309"/>
            <a:ext cx="2517458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BDIA2 2025-2026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01141" y="1479121"/>
            <a:ext cx="601829" cy="514290"/>
          </a:xfrm>
          <a:custGeom>
            <a:avLst/>
            <a:gdLst/>
            <a:ahLst/>
            <a:cxnLst/>
            <a:rect r="r" b="b" t="t" l="l"/>
            <a:pathLst>
              <a:path h="514290" w="601829">
                <a:moveTo>
                  <a:pt x="0" y="0"/>
                </a:moveTo>
                <a:lnTo>
                  <a:pt x="601829" y="0"/>
                </a:lnTo>
                <a:lnTo>
                  <a:pt x="601829" y="514291"/>
                </a:lnTo>
                <a:lnTo>
                  <a:pt x="0" y="5142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35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773373"/>
            <a:ext cx="3359716" cy="2370127"/>
            <a:chOff x="0" y="0"/>
            <a:chExt cx="4479621" cy="31601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79621" cy="3160169"/>
            </a:xfrm>
            <a:custGeom>
              <a:avLst/>
              <a:gdLst/>
              <a:ahLst/>
              <a:cxnLst/>
              <a:rect r="r" b="b" t="t" l="l"/>
              <a:pathLst>
                <a:path h="3160169" w="4479621">
                  <a:moveTo>
                    <a:pt x="0" y="0"/>
                  </a:moveTo>
                  <a:lnTo>
                    <a:pt x="4479621" y="0"/>
                  </a:lnTo>
                  <a:lnTo>
                    <a:pt x="4479621" y="3160169"/>
                  </a:lnTo>
                  <a:lnTo>
                    <a:pt x="0" y="3160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98656" y="650253"/>
              <a:ext cx="3960008" cy="1510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40"/>
                </a:lnSpc>
                <a:spcBef>
                  <a:spcPct val="0"/>
                </a:spcBef>
              </a:pPr>
              <a:r>
                <a:rPr lang="en-US" sz="2981" spc="59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1.Intruduction et vue d’ensemble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869044" y="230261"/>
            <a:ext cx="8501941" cy="1434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733"/>
              </a:lnSpc>
            </a:pPr>
            <a:r>
              <a:rPr lang="en-US" sz="838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SOMMAIRE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090490" y="9548710"/>
            <a:ext cx="4372889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Module: Technique de veille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472162" y="297309"/>
            <a:ext cx="2517458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BDIA2 2025-2026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371175" y="6671974"/>
            <a:ext cx="3359716" cy="2370127"/>
            <a:chOff x="0" y="0"/>
            <a:chExt cx="4479621" cy="31601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79621" cy="3160169"/>
            </a:xfrm>
            <a:custGeom>
              <a:avLst/>
              <a:gdLst/>
              <a:ahLst/>
              <a:cxnLst/>
              <a:rect r="r" b="b" t="t" l="l"/>
              <a:pathLst>
                <a:path h="3160169" w="4479621">
                  <a:moveTo>
                    <a:pt x="0" y="0"/>
                  </a:moveTo>
                  <a:lnTo>
                    <a:pt x="4479621" y="0"/>
                  </a:lnTo>
                  <a:lnTo>
                    <a:pt x="4479621" y="3160169"/>
                  </a:lnTo>
                  <a:lnTo>
                    <a:pt x="0" y="3160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198656" y="650253"/>
              <a:ext cx="3960008" cy="1510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40"/>
                </a:lnSpc>
                <a:spcBef>
                  <a:spcPct val="0"/>
                </a:spcBef>
              </a:pPr>
              <a:r>
                <a:rPr lang="en-US" sz="2981" spc="59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6.Conclusion et perspective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079579" y="6671974"/>
            <a:ext cx="3359716" cy="2370127"/>
            <a:chOff x="0" y="0"/>
            <a:chExt cx="4479621" cy="316016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79621" cy="3160169"/>
            </a:xfrm>
            <a:custGeom>
              <a:avLst/>
              <a:gdLst/>
              <a:ahLst/>
              <a:cxnLst/>
              <a:rect r="r" b="b" t="t" l="l"/>
              <a:pathLst>
                <a:path h="3160169" w="4479621">
                  <a:moveTo>
                    <a:pt x="0" y="0"/>
                  </a:moveTo>
                  <a:lnTo>
                    <a:pt x="4479621" y="0"/>
                  </a:lnTo>
                  <a:lnTo>
                    <a:pt x="4479621" y="3160169"/>
                  </a:lnTo>
                  <a:lnTo>
                    <a:pt x="0" y="3160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259807" y="597042"/>
              <a:ext cx="3960008" cy="1510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40"/>
                </a:lnSpc>
                <a:spcBef>
                  <a:spcPct val="0"/>
                </a:spcBef>
              </a:pPr>
              <a:r>
                <a:rPr lang="en-US" sz="2981" spc="59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5.Tests et Demonstrations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30347" y="6671974"/>
            <a:ext cx="3359716" cy="2370127"/>
            <a:chOff x="0" y="0"/>
            <a:chExt cx="4479621" cy="316016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479621" cy="3160169"/>
            </a:xfrm>
            <a:custGeom>
              <a:avLst/>
              <a:gdLst/>
              <a:ahLst/>
              <a:cxnLst/>
              <a:rect r="r" b="b" t="t" l="l"/>
              <a:pathLst>
                <a:path h="3160169" w="4479621">
                  <a:moveTo>
                    <a:pt x="0" y="0"/>
                  </a:moveTo>
                  <a:lnTo>
                    <a:pt x="4479621" y="0"/>
                  </a:lnTo>
                  <a:lnTo>
                    <a:pt x="4479621" y="3160169"/>
                  </a:lnTo>
                  <a:lnTo>
                    <a:pt x="0" y="3160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198656" y="650253"/>
              <a:ext cx="3960008" cy="1510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40"/>
                </a:lnSpc>
                <a:spcBef>
                  <a:spcPct val="0"/>
                </a:spcBef>
              </a:pPr>
              <a:r>
                <a:rPr lang="en-US" sz="2981" spc="59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4.Conception de l’application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079579" y="2773373"/>
            <a:ext cx="3359716" cy="2370127"/>
            <a:chOff x="0" y="0"/>
            <a:chExt cx="4479621" cy="316016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79621" cy="3160169"/>
            </a:xfrm>
            <a:custGeom>
              <a:avLst/>
              <a:gdLst/>
              <a:ahLst/>
              <a:cxnLst/>
              <a:rect r="r" b="b" t="t" l="l"/>
              <a:pathLst>
                <a:path h="3160169" w="4479621">
                  <a:moveTo>
                    <a:pt x="0" y="0"/>
                  </a:moveTo>
                  <a:lnTo>
                    <a:pt x="4479621" y="0"/>
                  </a:lnTo>
                  <a:lnTo>
                    <a:pt x="4479621" y="3160169"/>
                  </a:lnTo>
                  <a:lnTo>
                    <a:pt x="0" y="3160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198656" y="650253"/>
              <a:ext cx="3960008" cy="1510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40"/>
                </a:lnSpc>
                <a:spcBef>
                  <a:spcPct val="0"/>
                </a:spcBef>
              </a:pPr>
              <a:r>
                <a:rPr lang="en-US" sz="2981" spc="59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2.Architecture globale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371175" y="2773373"/>
            <a:ext cx="3359716" cy="2370127"/>
            <a:chOff x="0" y="0"/>
            <a:chExt cx="4479621" cy="316016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479621" cy="3160169"/>
            </a:xfrm>
            <a:custGeom>
              <a:avLst/>
              <a:gdLst/>
              <a:ahLst/>
              <a:cxnLst/>
              <a:rect r="r" b="b" t="t" l="l"/>
              <a:pathLst>
                <a:path h="3160169" w="4479621">
                  <a:moveTo>
                    <a:pt x="0" y="0"/>
                  </a:moveTo>
                  <a:lnTo>
                    <a:pt x="4479621" y="0"/>
                  </a:lnTo>
                  <a:lnTo>
                    <a:pt x="4479621" y="3160169"/>
                  </a:lnTo>
                  <a:lnTo>
                    <a:pt x="0" y="3160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198656" y="650253"/>
              <a:ext cx="3960008" cy="1510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40"/>
                </a:lnSpc>
                <a:spcBef>
                  <a:spcPct val="0"/>
                </a:spcBef>
              </a:pPr>
              <a:r>
                <a:rPr lang="en-US" sz="2981" spc="59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3.Implementation moteur Agent</a:t>
              </a:r>
            </a:p>
          </p:txBody>
        </p:sp>
      </p:grpSp>
    </p:spTree>
  </p:cSld>
  <p:clrMapOvr>
    <a:masterClrMapping/>
  </p:clrMapOvr>
  <p:transition spd="slow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35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090490" y="9548710"/>
            <a:ext cx="4372889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Module: Technique de veille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472162" y="297309"/>
            <a:ext cx="2517458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BDIA2 2025-2026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4219918" y="1576005"/>
            <a:ext cx="10114033" cy="7134990"/>
            <a:chOff x="0" y="0"/>
            <a:chExt cx="13485377" cy="951332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485377" cy="9513321"/>
            </a:xfrm>
            <a:custGeom>
              <a:avLst/>
              <a:gdLst/>
              <a:ahLst/>
              <a:cxnLst/>
              <a:rect r="r" b="b" t="t" l="l"/>
              <a:pathLst>
                <a:path h="9513321" w="13485377">
                  <a:moveTo>
                    <a:pt x="0" y="0"/>
                  </a:moveTo>
                  <a:lnTo>
                    <a:pt x="13485377" y="0"/>
                  </a:lnTo>
                  <a:lnTo>
                    <a:pt x="13485377" y="9513321"/>
                  </a:lnTo>
                  <a:lnTo>
                    <a:pt x="0" y="95133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598031" y="1968223"/>
              <a:ext cx="11921142" cy="45358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270"/>
                </a:lnSpc>
                <a:spcBef>
                  <a:spcPct val="0"/>
                </a:spcBef>
              </a:pPr>
              <a:r>
                <a:rPr lang="en-US" sz="8975" spc="179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2.Architecture globale</a:t>
              </a:r>
            </a:p>
          </p:txBody>
        </p:sp>
      </p:grpSp>
    </p:spTree>
  </p:cSld>
  <p:clrMapOvr>
    <a:masterClrMapping/>
  </p:clrMapOvr>
  <p:transition spd="slow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35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090490" y="9548710"/>
            <a:ext cx="4372889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Module: Technique de veille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472162" y="297309"/>
            <a:ext cx="2517458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BDIA2 2025-2026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432931" y="-156363"/>
            <a:ext cx="3359716" cy="2370127"/>
            <a:chOff x="0" y="0"/>
            <a:chExt cx="4479621" cy="316016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79621" cy="3160169"/>
            </a:xfrm>
            <a:custGeom>
              <a:avLst/>
              <a:gdLst/>
              <a:ahLst/>
              <a:cxnLst/>
              <a:rect r="r" b="b" t="t" l="l"/>
              <a:pathLst>
                <a:path h="3160169" w="4479621">
                  <a:moveTo>
                    <a:pt x="0" y="0"/>
                  </a:moveTo>
                  <a:lnTo>
                    <a:pt x="4479621" y="0"/>
                  </a:lnTo>
                  <a:lnTo>
                    <a:pt x="4479621" y="3160169"/>
                  </a:lnTo>
                  <a:lnTo>
                    <a:pt x="0" y="3160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198656" y="650253"/>
              <a:ext cx="3960008" cy="1510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40"/>
                </a:lnSpc>
                <a:spcBef>
                  <a:spcPct val="0"/>
                </a:spcBef>
              </a:pPr>
              <a:r>
                <a:rPr lang="en-US" sz="2981" spc="59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2.Architecture globale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861764" y="1556748"/>
            <a:ext cx="770325" cy="433308"/>
          </a:xfrm>
          <a:custGeom>
            <a:avLst/>
            <a:gdLst/>
            <a:ahLst/>
            <a:cxnLst/>
            <a:rect r="r" b="b" t="t" l="l"/>
            <a:pathLst>
              <a:path h="433308" w="770325">
                <a:moveTo>
                  <a:pt x="0" y="0"/>
                </a:moveTo>
                <a:lnTo>
                  <a:pt x="770325" y="0"/>
                </a:lnTo>
                <a:lnTo>
                  <a:pt x="770325" y="433308"/>
                </a:lnTo>
                <a:lnTo>
                  <a:pt x="0" y="4333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0"/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35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090490" y="9548710"/>
            <a:ext cx="4372889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Module: Technique de veille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472162" y="297309"/>
            <a:ext cx="2517458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BDIA2 2025-2026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432931" y="-156363"/>
            <a:ext cx="3359716" cy="2370127"/>
            <a:chOff x="0" y="0"/>
            <a:chExt cx="4479621" cy="316016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79621" cy="3160169"/>
            </a:xfrm>
            <a:custGeom>
              <a:avLst/>
              <a:gdLst/>
              <a:ahLst/>
              <a:cxnLst/>
              <a:rect r="r" b="b" t="t" l="l"/>
              <a:pathLst>
                <a:path h="3160169" w="4479621">
                  <a:moveTo>
                    <a:pt x="0" y="0"/>
                  </a:moveTo>
                  <a:lnTo>
                    <a:pt x="4479621" y="0"/>
                  </a:lnTo>
                  <a:lnTo>
                    <a:pt x="4479621" y="3160169"/>
                  </a:lnTo>
                  <a:lnTo>
                    <a:pt x="0" y="3160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198656" y="650253"/>
              <a:ext cx="3960008" cy="1510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40"/>
                </a:lnSpc>
                <a:spcBef>
                  <a:spcPct val="0"/>
                </a:spcBef>
              </a:pPr>
              <a:r>
                <a:rPr lang="en-US" sz="2981" spc="59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2.Architecture globale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3278060" y="831108"/>
            <a:ext cx="14981675" cy="8427192"/>
          </a:xfrm>
          <a:custGeom>
            <a:avLst/>
            <a:gdLst/>
            <a:ahLst/>
            <a:cxnLst/>
            <a:rect r="r" b="b" t="t" l="l"/>
            <a:pathLst>
              <a:path h="8427192" w="14981675">
                <a:moveTo>
                  <a:pt x="0" y="0"/>
                </a:moveTo>
                <a:lnTo>
                  <a:pt x="14981675" y="0"/>
                </a:lnTo>
                <a:lnTo>
                  <a:pt x="14981675" y="8427192"/>
                </a:lnTo>
                <a:lnTo>
                  <a:pt x="0" y="84271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35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090490" y="9548710"/>
            <a:ext cx="4372889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Module: Technique de veille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472162" y="297309"/>
            <a:ext cx="2517458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BDIA2 2025-2026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432931" y="-156363"/>
            <a:ext cx="3359716" cy="2370127"/>
            <a:chOff x="0" y="0"/>
            <a:chExt cx="4479621" cy="316016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79621" cy="3160169"/>
            </a:xfrm>
            <a:custGeom>
              <a:avLst/>
              <a:gdLst/>
              <a:ahLst/>
              <a:cxnLst/>
              <a:rect r="r" b="b" t="t" l="l"/>
              <a:pathLst>
                <a:path h="3160169" w="4479621">
                  <a:moveTo>
                    <a:pt x="0" y="0"/>
                  </a:moveTo>
                  <a:lnTo>
                    <a:pt x="4479621" y="0"/>
                  </a:lnTo>
                  <a:lnTo>
                    <a:pt x="4479621" y="3160169"/>
                  </a:lnTo>
                  <a:lnTo>
                    <a:pt x="0" y="3160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198656" y="650253"/>
              <a:ext cx="3960008" cy="1510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40"/>
                </a:lnSpc>
                <a:spcBef>
                  <a:spcPct val="0"/>
                </a:spcBef>
              </a:pPr>
              <a:r>
                <a:rPr lang="en-US" sz="2981" spc="59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2.Architecture globale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861764" y="1556748"/>
            <a:ext cx="770325" cy="433308"/>
          </a:xfrm>
          <a:custGeom>
            <a:avLst/>
            <a:gdLst/>
            <a:ahLst/>
            <a:cxnLst/>
            <a:rect r="r" b="b" t="t" l="l"/>
            <a:pathLst>
              <a:path h="433308" w="770325">
                <a:moveTo>
                  <a:pt x="0" y="0"/>
                </a:moveTo>
                <a:lnTo>
                  <a:pt x="770325" y="0"/>
                </a:lnTo>
                <a:lnTo>
                  <a:pt x="770325" y="433308"/>
                </a:lnTo>
                <a:lnTo>
                  <a:pt x="0" y="4333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0"/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35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773373"/>
            <a:ext cx="3359716" cy="2370127"/>
            <a:chOff x="0" y="0"/>
            <a:chExt cx="4479621" cy="31601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79621" cy="3160169"/>
            </a:xfrm>
            <a:custGeom>
              <a:avLst/>
              <a:gdLst/>
              <a:ahLst/>
              <a:cxnLst/>
              <a:rect r="r" b="b" t="t" l="l"/>
              <a:pathLst>
                <a:path h="3160169" w="4479621">
                  <a:moveTo>
                    <a:pt x="0" y="0"/>
                  </a:moveTo>
                  <a:lnTo>
                    <a:pt x="4479621" y="0"/>
                  </a:lnTo>
                  <a:lnTo>
                    <a:pt x="4479621" y="3160169"/>
                  </a:lnTo>
                  <a:lnTo>
                    <a:pt x="0" y="3160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98656" y="650253"/>
              <a:ext cx="3960008" cy="1510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40"/>
                </a:lnSpc>
                <a:spcBef>
                  <a:spcPct val="0"/>
                </a:spcBef>
              </a:pPr>
              <a:r>
                <a:rPr lang="en-US" sz="2981" spc="59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1.Intruduction et vue d’ensemble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869044" y="230261"/>
            <a:ext cx="8501941" cy="1434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733"/>
              </a:lnSpc>
            </a:pPr>
            <a:r>
              <a:rPr lang="en-US" sz="838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SOMMAIRE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090490" y="9548710"/>
            <a:ext cx="4372889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Module: Technique de veille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472162" y="297309"/>
            <a:ext cx="2517458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BDIA2 2025-2026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371175" y="6671974"/>
            <a:ext cx="3359716" cy="2370127"/>
            <a:chOff x="0" y="0"/>
            <a:chExt cx="4479621" cy="31601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79621" cy="3160169"/>
            </a:xfrm>
            <a:custGeom>
              <a:avLst/>
              <a:gdLst/>
              <a:ahLst/>
              <a:cxnLst/>
              <a:rect r="r" b="b" t="t" l="l"/>
              <a:pathLst>
                <a:path h="3160169" w="4479621">
                  <a:moveTo>
                    <a:pt x="0" y="0"/>
                  </a:moveTo>
                  <a:lnTo>
                    <a:pt x="4479621" y="0"/>
                  </a:lnTo>
                  <a:lnTo>
                    <a:pt x="4479621" y="3160169"/>
                  </a:lnTo>
                  <a:lnTo>
                    <a:pt x="0" y="3160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198656" y="650253"/>
              <a:ext cx="3960008" cy="1510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40"/>
                </a:lnSpc>
                <a:spcBef>
                  <a:spcPct val="0"/>
                </a:spcBef>
              </a:pPr>
              <a:r>
                <a:rPr lang="en-US" sz="2981" spc="59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6.Conclusion et perspective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079579" y="6671974"/>
            <a:ext cx="3359716" cy="2370127"/>
            <a:chOff x="0" y="0"/>
            <a:chExt cx="4479621" cy="316016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79621" cy="3160169"/>
            </a:xfrm>
            <a:custGeom>
              <a:avLst/>
              <a:gdLst/>
              <a:ahLst/>
              <a:cxnLst/>
              <a:rect r="r" b="b" t="t" l="l"/>
              <a:pathLst>
                <a:path h="3160169" w="4479621">
                  <a:moveTo>
                    <a:pt x="0" y="0"/>
                  </a:moveTo>
                  <a:lnTo>
                    <a:pt x="4479621" y="0"/>
                  </a:lnTo>
                  <a:lnTo>
                    <a:pt x="4479621" y="3160169"/>
                  </a:lnTo>
                  <a:lnTo>
                    <a:pt x="0" y="3160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259807" y="597042"/>
              <a:ext cx="3960008" cy="1510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40"/>
                </a:lnSpc>
                <a:spcBef>
                  <a:spcPct val="0"/>
                </a:spcBef>
              </a:pPr>
              <a:r>
                <a:rPr lang="en-US" sz="2981" spc="59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5.Tests et Demonstrations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30347" y="6671974"/>
            <a:ext cx="3359716" cy="2370127"/>
            <a:chOff x="0" y="0"/>
            <a:chExt cx="4479621" cy="316016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479621" cy="3160169"/>
            </a:xfrm>
            <a:custGeom>
              <a:avLst/>
              <a:gdLst/>
              <a:ahLst/>
              <a:cxnLst/>
              <a:rect r="r" b="b" t="t" l="l"/>
              <a:pathLst>
                <a:path h="3160169" w="4479621">
                  <a:moveTo>
                    <a:pt x="0" y="0"/>
                  </a:moveTo>
                  <a:lnTo>
                    <a:pt x="4479621" y="0"/>
                  </a:lnTo>
                  <a:lnTo>
                    <a:pt x="4479621" y="3160169"/>
                  </a:lnTo>
                  <a:lnTo>
                    <a:pt x="0" y="3160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198656" y="650253"/>
              <a:ext cx="3960008" cy="1510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40"/>
                </a:lnSpc>
                <a:spcBef>
                  <a:spcPct val="0"/>
                </a:spcBef>
              </a:pPr>
              <a:r>
                <a:rPr lang="en-US" sz="2981" spc="59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4.Conception de l’application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079579" y="2773373"/>
            <a:ext cx="3359716" cy="2370127"/>
            <a:chOff x="0" y="0"/>
            <a:chExt cx="4479621" cy="316016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79621" cy="3160169"/>
            </a:xfrm>
            <a:custGeom>
              <a:avLst/>
              <a:gdLst/>
              <a:ahLst/>
              <a:cxnLst/>
              <a:rect r="r" b="b" t="t" l="l"/>
              <a:pathLst>
                <a:path h="3160169" w="4479621">
                  <a:moveTo>
                    <a:pt x="0" y="0"/>
                  </a:moveTo>
                  <a:lnTo>
                    <a:pt x="4479621" y="0"/>
                  </a:lnTo>
                  <a:lnTo>
                    <a:pt x="4479621" y="3160169"/>
                  </a:lnTo>
                  <a:lnTo>
                    <a:pt x="0" y="3160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198656" y="650253"/>
              <a:ext cx="3960008" cy="1510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40"/>
                </a:lnSpc>
                <a:spcBef>
                  <a:spcPct val="0"/>
                </a:spcBef>
              </a:pPr>
              <a:r>
                <a:rPr lang="en-US" sz="2981" spc="59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2.Architecture globale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371175" y="2773373"/>
            <a:ext cx="3359716" cy="2370127"/>
            <a:chOff x="0" y="0"/>
            <a:chExt cx="4479621" cy="316016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479621" cy="3160169"/>
            </a:xfrm>
            <a:custGeom>
              <a:avLst/>
              <a:gdLst/>
              <a:ahLst/>
              <a:cxnLst/>
              <a:rect r="r" b="b" t="t" l="l"/>
              <a:pathLst>
                <a:path h="3160169" w="4479621">
                  <a:moveTo>
                    <a:pt x="0" y="0"/>
                  </a:moveTo>
                  <a:lnTo>
                    <a:pt x="4479621" y="0"/>
                  </a:lnTo>
                  <a:lnTo>
                    <a:pt x="4479621" y="3160169"/>
                  </a:lnTo>
                  <a:lnTo>
                    <a:pt x="0" y="3160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198656" y="650253"/>
              <a:ext cx="3960008" cy="1510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40"/>
                </a:lnSpc>
                <a:spcBef>
                  <a:spcPct val="0"/>
                </a:spcBef>
              </a:pPr>
              <a:r>
                <a:rPr lang="en-US" sz="2981" spc="59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3.Implementation moteur Agent</a:t>
              </a:r>
            </a:p>
          </p:txBody>
        </p:sp>
      </p:grpSp>
    </p:spTree>
  </p:cSld>
  <p:clrMapOvr>
    <a:masterClrMapping/>
  </p:clrMapOvr>
  <p:transition spd="slow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35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090490" y="9548710"/>
            <a:ext cx="4372889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Module: Technique de veille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472162" y="297309"/>
            <a:ext cx="2517458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BDIA2 2025-2026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4213521" y="1271611"/>
            <a:ext cx="10126828" cy="7144017"/>
            <a:chOff x="0" y="0"/>
            <a:chExt cx="13502437" cy="95253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502437" cy="9525356"/>
            </a:xfrm>
            <a:custGeom>
              <a:avLst/>
              <a:gdLst/>
              <a:ahLst/>
              <a:cxnLst/>
              <a:rect r="r" b="b" t="t" l="l"/>
              <a:pathLst>
                <a:path h="9525356" w="13502437">
                  <a:moveTo>
                    <a:pt x="0" y="0"/>
                  </a:moveTo>
                  <a:lnTo>
                    <a:pt x="13502437" y="0"/>
                  </a:lnTo>
                  <a:lnTo>
                    <a:pt x="13502437" y="9525356"/>
                  </a:lnTo>
                  <a:lnTo>
                    <a:pt x="0" y="95253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598788" y="1971135"/>
              <a:ext cx="11936224" cy="45412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288"/>
                </a:lnSpc>
                <a:spcBef>
                  <a:spcPct val="0"/>
                </a:spcBef>
              </a:pPr>
              <a:r>
                <a:rPr lang="en-US" sz="8986" spc="179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3.Implementation moteur Agent</a:t>
              </a:r>
            </a:p>
          </p:txBody>
        </p:sp>
      </p:grpSp>
    </p:spTree>
  </p:cSld>
  <p:clrMapOvr>
    <a:masterClrMapping/>
  </p:clrMapOvr>
  <p:transition spd="slow">
    <p:fade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35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5690" y="-152536"/>
            <a:ext cx="3348866" cy="2362473"/>
            <a:chOff x="0" y="0"/>
            <a:chExt cx="4465155" cy="31499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65155" cy="3149964"/>
            </a:xfrm>
            <a:custGeom>
              <a:avLst/>
              <a:gdLst/>
              <a:ahLst/>
              <a:cxnLst/>
              <a:rect r="r" b="b" t="t" l="l"/>
              <a:pathLst>
                <a:path h="3149964" w="4465155">
                  <a:moveTo>
                    <a:pt x="0" y="0"/>
                  </a:moveTo>
                  <a:lnTo>
                    <a:pt x="4465155" y="0"/>
                  </a:lnTo>
                  <a:lnTo>
                    <a:pt x="4465155" y="3149964"/>
                  </a:lnTo>
                  <a:lnTo>
                    <a:pt x="0" y="31499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98015" y="647784"/>
              <a:ext cx="3947220" cy="1505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25"/>
                </a:lnSpc>
                <a:spcBef>
                  <a:spcPct val="0"/>
                </a:spcBef>
              </a:pPr>
              <a:r>
                <a:rPr lang="en-US" sz="2971" spc="59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3.Implementation moteur Agent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090490" y="9548710"/>
            <a:ext cx="4372889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Module: Technique de veille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472162" y="297309"/>
            <a:ext cx="2517458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BDIA2 2025-2026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538097" y="1537978"/>
            <a:ext cx="1821293" cy="671958"/>
            <a:chOff x="0" y="0"/>
            <a:chExt cx="2428390" cy="89594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558185" y="0"/>
              <a:ext cx="1870206" cy="895944"/>
            </a:xfrm>
            <a:custGeom>
              <a:avLst/>
              <a:gdLst/>
              <a:ahLst/>
              <a:cxnLst/>
              <a:rect r="r" b="b" t="t" l="l"/>
              <a:pathLst>
                <a:path h="895944" w="1870206">
                  <a:moveTo>
                    <a:pt x="0" y="0"/>
                  </a:moveTo>
                  <a:lnTo>
                    <a:pt x="1870205" y="0"/>
                  </a:lnTo>
                  <a:lnTo>
                    <a:pt x="1870205" y="895944"/>
                  </a:lnTo>
                  <a:lnTo>
                    <a:pt x="0" y="895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46452" y="219691"/>
              <a:ext cx="370639" cy="302998"/>
            </a:xfrm>
            <a:custGeom>
              <a:avLst/>
              <a:gdLst/>
              <a:ahLst/>
              <a:cxnLst/>
              <a:rect r="r" b="b" t="t" l="l"/>
              <a:pathLst>
                <a:path h="302998" w="370639">
                  <a:moveTo>
                    <a:pt x="0" y="0"/>
                  </a:moveTo>
                  <a:lnTo>
                    <a:pt x="370639" y="0"/>
                  </a:lnTo>
                  <a:lnTo>
                    <a:pt x="370639" y="302997"/>
                  </a:lnTo>
                  <a:lnTo>
                    <a:pt x="0" y="3029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0" y="574185"/>
              <a:ext cx="463543" cy="1317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08"/>
                </a:lnSpc>
                <a:spcBef>
                  <a:spcPct val="0"/>
                </a:spcBef>
              </a:pPr>
              <a:r>
                <a:rPr lang="en-US" sz="508" spc="10">
                  <a:solidFill>
                    <a:srgbClr val="5170FF">
                      <a:alpha val="0"/>
                    </a:srgbClr>
                  </a:solidFill>
                  <a:latin typeface="Anton"/>
                  <a:ea typeface="Anton"/>
                  <a:cs typeface="Anton"/>
                  <a:sym typeface="Anton"/>
                </a:rPr>
                <a:t>CHOIX DU LLM</a:t>
              </a:r>
            </a:p>
          </p:txBody>
        </p:sp>
      </p:grpSp>
    </p:spTree>
  </p:cSld>
  <p:clrMapOvr>
    <a:masterClrMapping/>
  </p:clrMapOvr>
  <p:transition spd="slow">
    <p:fade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35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5690" y="-152536"/>
            <a:ext cx="3348866" cy="2362473"/>
            <a:chOff x="0" y="0"/>
            <a:chExt cx="4465155" cy="31499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65155" cy="3149964"/>
            </a:xfrm>
            <a:custGeom>
              <a:avLst/>
              <a:gdLst/>
              <a:ahLst/>
              <a:cxnLst/>
              <a:rect r="r" b="b" t="t" l="l"/>
              <a:pathLst>
                <a:path h="3149964" w="4465155">
                  <a:moveTo>
                    <a:pt x="0" y="0"/>
                  </a:moveTo>
                  <a:lnTo>
                    <a:pt x="4465155" y="0"/>
                  </a:lnTo>
                  <a:lnTo>
                    <a:pt x="4465155" y="3149964"/>
                  </a:lnTo>
                  <a:lnTo>
                    <a:pt x="0" y="31499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98015" y="647784"/>
              <a:ext cx="3947220" cy="1505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25"/>
                </a:lnSpc>
                <a:spcBef>
                  <a:spcPct val="0"/>
                </a:spcBef>
              </a:pPr>
              <a:r>
                <a:rPr lang="en-US" sz="2971" spc="59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3.Implementation moteur Agent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090490" y="9548710"/>
            <a:ext cx="4372889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Module: Technique de veille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472162" y="297309"/>
            <a:ext cx="2517458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BDIA2 2025-2026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31495" y="2209936"/>
            <a:ext cx="17856505" cy="6588083"/>
            <a:chOff x="0" y="0"/>
            <a:chExt cx="23808674" cy="878411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5472611" y="0"/>
              <a:ext cx="18336063" cy="8784111"/>
            </a:xfrm>
            <a:custGeom>
              <a:avLst/>
              <a:gdLst/>
              <a:ahLst/>
              <a:cxnLst/>
              <a:rect r="r" b="b" t="t" l="l"/>
              <a:pathLst>
                <a:path h="8784111" w="18336063">
                  <a:moveTo>
                    <a:pt x="0" y="0"/>
                  </a:moveTo>
                  <a:lnTo>
                    <a:pt x="18336063" y="0"/>
                  </a:lnTo>
                  <a:lnTo>
                    <a:pt x="18336063" y="8784111"/>
                  </a:lnTo>
                  <a:lnTo>
                    <a:pt x="0" y="87841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455427" y="2153915"/>
              <a:ext cx="3633860" cy="2970680"/>
            </a:xfrm>
            <a:custGeom>
              <a:avLst/>
              <a:gdLst/>
              <a:ahLst/>
              <a:cxnLst/>
              <a:rect r="r" b="b" t="t" l="l"/>
              <a:pathLst>
                <a:path h="2970680" w="3633860">
                  <a:moveTo>
                    <a:pt x="0" y="0"/>
                  </a:moveTo>
                  <a:lnTo>
                    <a:pt x="3633860" y="0"/>
                  </a:lnTo>
                  <a:lnTo>
                    <a:pt x="3633860" y="2970680"/>
                  </a:lnTo>
                  <a:lnTo>
                    <a:pt x="0" y="2970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0" y="5719138"/>
              <a:ext cx="4544714" cy="12023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925"/>
                </a:lnSpc>
                <a:spcBef>
                  <a:spcPct val="0"/>
                </a:spcBef>
              </a:pPr>
              <a:r>
                <a:rPr lang="en-US" sz="4984" spc="99">
                  <a:solidFill>
                    <a:srgbClr val="5170FF"/>
                  </a:solidFill>
                  <a:latin typeface="Anton"/>
                  <a:ea typeface="Anton"/>
                  <a:cs typeface="Anton"/>
                  <a:sym typeface="Anton"/>
                </a:rPr>
                <a:t>CHOIX DU LLM</a:t>
              </a:r>
            </a:p>
          </p:txBody>
        </p:sp>
      </p:grpSp>
    </p:spTree>
  </p:cSld>
  <p:clrMapOvr>
    <a:masterClrMapping/>
  </p:clrMapOvr>
  <p:transition spd="slow">
    <p:fade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35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5690" y="-152536"/>
            <a:ext cx="3348866" cy="2362473"/>
            <a:chOff x="0" y="0"/>
            <a:chExt cx="4465155" cy="31499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65155" cy="3149964"/>
            </a:xfrm>
            <a:custGeom>
              <a:avLst/>
              <a:gdLst/>
              <a:ahLst/>
              <a:cxnLst/>
              <a:rect r="r" b="b" t="t" l="l"/>
              <a:pathLst>
                <a:path h="3149964" w="4465155">
                  <a:moveTo>
                    <a:pt x="0" y="0"/>
                  </a:moveTo>
                  <a:lnTo>
                    <a:pt x="4465155" y="0"/>
                  </a:lnTo>
                  <a:lnTo>
                    <a:pt x="4465155" y="3149964"/>
                  </a:lnTo>
                  <a:lnTo>
                    <a:pt x="0" y="31499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98015" y="647784"/>
              <a:ext cx="3947220" cy="1505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25"/>
                </a:lnSpc>
                <a:spcBef>
                  <a:spcPct val="0"/>
                </a:spcBef>
              </a:pPr>
              <a:r>
                <a:rPr lang="en-US" sz="2971" spc="59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3.Implementation moteur Agent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090490" y="9548710"/>
            <a:ext cx="4372889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Module: Technique de veille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472162" y="297309"/>
            <a:ext cx="2517458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BDIA2 2025-2026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332357" y="1364116"/>
            <a:ext cx="1933179" cy="685800"/>
            <a:chOff x="0" y="0"/>
            <a:chExt cx="2577572" cy="914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598399" y="525946"/>
              <a:ext cx="303999" cy="386210"/>
            </a:xfrm>
            <a:custGeom>
              <a:avLst/>
              <a:gdLst/>
              <a:ahLst/>
              <a:cxnLst/>
              <a:rect r="r" b="b" t="t" l="l"/>
              <a:pathLst>
                <a:path h="386210" w="303999">
                  <a:moveTo>
                    <a:pt x="0" y="0"/>
                  </a:moveTo>
                  <a:lnTo>
                    <a:pt x="303998" y="0"/>
                  </a:lnTo>
                  <a:lnTo>
                    <a:pt x="303998" y="386210"/>
                  </a:lnTo>
                  <a:lnTo>
                    <a:pt x="0" y="3862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3521" t="0" r="-13521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846506" y="528190"/>
              <a:ext cx="303999" cy="386210"/>
            </a:xfrm>
            <a:custGeom>
              <a:avLst/>
              <a:gdLst/>
              <a:ahLst/>
              <a:cxnLst/>
              <a:rect r="r" b="b" t="t" l="l"/>
              <a:pathLst>
                <a:path h="386210" w="303999">
                  <a:moveTo>
                    <a:pt x="0" y="0"/>
                  </a:moveTo>
                  <a:lnTo>
                    <a:pt x="303999" y="0"/>
                  </a:lnTo>
                  <a:lnTo>
                    <a:pt x="303999" y="386210"/>
                  </a:lnTo>
                  <a:lnTo>
                    <a:pt x="0" y="3862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3521" t="0" r="-13521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71009" y="528190"/>
              <a:ext cx="303999" cy="386210"/>
            </a:xfrm>
            <a:custGeom>
              <a:avLst/>
              <a:gdLst/>
              <a:ahLst/>
              <a:cxnLst/>
              <a:rect r="r" b="b" t="t" l="l"/>
              <a:pathLst>
                <a:path h="386210" w="303999">
                  <a:moveTo>
                    <a:pt x="0" y="0"/>
                  </a:moveTo>
                  <a:lnTo>
                    <a:pt x="303999" y="0"/>
                  </a:lnTo>
                  <a:lnTo>
                    <a:pt x="303999" y="386210"/>
                  </a:lnTo>
                  <a:lnTo>
                    <a:pt x="0" y="3862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3521" t="0" r="-13521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071009" y="195332"/>
              <a:ext cx="303999" cy="386210"/>
            </a:xfrm>
            <a:custGeom>
              <a:avLst/>
              <a:gdLst/>
              <a:ahLst/>
              <a:cxnLst/>
              <a:rect r="r" b="b" t="t" l="l"/>
              <a:pathLst>
                <a:path h="386210" w="303999">
                  <a:moveTo>
                    <a:pt x="0" y="0"/>
                  </a:moveTo>
                  <a:lnTo>
                    <a:pt x="303999" y="0"/>
                  </a:lnTo>
                  <a:lnTo>
                    <a:pt x="303999" y="386210"/>
                  </a:lnTo>
                  <a:lnTo>
                    <a:pt x="0" y="3862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3521" t="0" r="-13521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-127140">
              <a:off x="1839857" y="200002"/>
              <a:ext cx="306264" cy="390886"/>
            </a:xfrm>
            <a:custGeom>
              <a:avLst/>
              <a:gdLst/>
              <a:ahLst/>
              <a:cxnLst/>
              <a:rect r="r" b="b" t="t" l="l"/>
              <a:pathLst>
                <a:path h="390886" w="306264">
                  <a:moveTo>
                    <a:pt x="0" y="0"/>
                  </a:moveTo>
                  <a:lnTo>
                    <a:pt x="306265" y="0"/>
                  </a:lnTo>
                  <a:lnTo>
                    <a:pt x="306265" y="390887"/>
                  </a:lnTo>
                  <a:lnTo>
                    <a:pt x="0" y="3908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3815" t="0" r="-13815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595640" y="198836"/>
              <a:ext cx="309515" cy="393218"/>
            </a:xfrm>
            <a:custGeom>
              <a:avLst/>
              <a:gdLst/>
              <a:ahLst/>
              <a:cxnLst/>
              <a:rect r="r" b="b" t="t" l="l"/>
              <a:pathLst>
                <a:path h="393218" w="309515">
                  <a:moveTo>
                    <a:pt x="0" y="0"/>
                  </a:moveTo>
                  <a:lnTo>
                    <a:pt x="309515" y="0"/>
                  </a:lnTo>
                  <a:lnTo>
                    <a:pt x="309515" y="393218"/>
                  </a:lnTo>
                  <a:lnTo>
                    <a:pt x="0" y="3932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3521" t="0" r="-13521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2273574" y="528190"/>
              <a:ext cx="303999" cy="386210"/>
            </a:xfrm>
            <a:custGeom>
              <a:avLst/>
              <a:gdLst/>
              <a:ahLst/>
              <a:cxnLst/>
              <a:rect r="r" b="b" t="t" l="l"/>
              <a:pathLst>
                <a:path h="386210" w="303999">
                  <a:moveTo>
                    <a:pt x="0" y="0"/>
                  </a:moveTo>
                  <a:lnTo>
                    <a:pt x="303998" y="0"/>
                  </a:lnTo>
                  <a:lnTo>
                    <a:pt x="303998" y="386210"/>
                  </a:lnTo>
                  <a:lnTo>
                    <a:pt x="0" y="3862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3521" t="0" r="-13521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273574" y="195332"/>
              <a:ext cx="303999" cy="386210"/>
            </a:xfrm>
            <a:custGeom>
              <a:avLst/>
              <a:gdLst/>
              <a:ahLst/>
              <a:cxnLst/>
              <a:rect r="r" b="b" t="t" l="l"/>
              <a:pathLst>
                <a:path h="386210" w="303999">
                  <a:moveTo>
                    <a:pt x="0" y="0"/>
                  </a:moveTo>
                  <a:lnTo>
                    <a:pt x="303998" y="0"/>
                  </a:lnTo>
                  <a:lnTo>
                    <a:pt x="303998" y="386210"/>
                  </a:lnTo>
                  <a:lnTo>
                    <a:pt x="0" y="3862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3521" t="0" r="-13521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314837" y="421371"/>
              <a:ext cx="204723" cy="318016"/>
            </a:xfrm>
            <a:custGeom>
              <a:avLst/>
              <a:gdLst/>
              <a:ahLst/>
              <a:cxnLst/>
              <a:rect r="r" b="b" t="t" l="l"/>
              <a:pathLst>
                <a:path h="318016" w="204723">
                  <a:moveTo>
                    <a:pt x="0" y="0"/>
                  </a:moveTo>
                  <a:lnTo>
                    <a:pt x="204723" y="0"/>
                  </a:lnTo>
                  <a:lnTo>
                    <a:pt x="204723" y="318015"/>
                  </a:lnTo>
                  <a:lnTo>
                    <a:pt x="0" y="3180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784788" y="-19050"/>
              <a:ext cx="1020097" cy="1160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2"/>
                </a:lnSpc>
                <a:spcBef>
                  <a:spcPct val="0"/>
                </a:spcBef>
              </a:pPr>
              <a:r>
                <a:rPr lang="en-US" sz="479" spc="9">
                  <a:solidFill>
                    <a:srgbClr val="5170FF">
                      <a:alpha val="0"/>
                    </a:srgbClr>
                  </a:solidFill>
                  <a:latin typeface="Anton"/>
                  <a:ea typeface="Anton"/>
                  <a:cs typeface="Anton"/>
                  <a:sym typeface="Anton"/>
                </a:rPr>
                <a:t>ARCHITECTURE SKILLS VS AGENTS</a:t>
              </a:r>
            </a:p>
          </p:txBody>
        </p:sp>
        <p:sp>
          <p:nvSpPr>
            <p:cNvPr name="Freeform 18" id="18"/>
            <p:cNvSpPr/>
            <p:nvPr/>
          </p:nvSpPr>
          <p:spPr>
            <a:xfrm flipH="false" flipV="false" rot="0">
              <a:off x="0" y="246374"/>
              <a:ext cx="1214562" cy="668009"/>
            </a:xfrm>
            <a:custGeom>
              <a:avLst/>
              <a:gdLst/>
              <a:ahLst/>
              <a:cxnLst/>
              <a:rect r="r" b="b" t="t" l="l"/>
              <a:pathLst>
                <a:path h="668009" w="1214562">
                  <a:moveTo>
                    <a:pt x="0" y="0"/>
                  </a:moveTo>
                  <a:lnTo>
                    <a:pt x="1214562" y="0"/>
                  </a:lnTo>
                  <a:lnTo>
                    <a:pt x="1214562" y="668009"/>
                  </a:lnTo>
                  <a:lnTo>
                    <a:pt x="0" y="6680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856869" y="789333"/>
              <a:ext cx="320842" cy="837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14"/>
                </a:lnSpc>
                <a:spcBef>
                  <a:spcPct val="0"/>
                </a:spcBef>
              </a:pPr>
              <a:r>
                <a:rPr lang="en-US" sz="323" spc="6">
                  <a:solidFill>
                    <a:srgbClr val="051C2C">
                      <a:alpha val="0"/>
                    </a:srgbClr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section swap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42975" y="1524136"/>
            <a:ext cx="1858810" cy="685800"/>
            <a:chOff x="0" y="0"/>
            <a:chExt cx="2478413" cy="914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569683" y="0"/>
              <a:ext cx="1908730" cy="914400"/>
            </a:xfrm>
            <a:custGeom>
              <a:avLst/>
              <a:gdLst/>
              <a:ahLst/>
              <a:cxnLst/>
              <a:rect r="r" b="b" t="t" l="l"/>
              <a:pathLst>
                <a:path h="914400" w="1908730">
                  <a:moveTo>
                    <a:pt x="0" y="0"/>
                  </a:moveTo>
                  <a:lnTo>
                    <a:pt x="1908730" y="0"/>
                  </a:lnTo>
                  <a:lnTo>
                    <a:pt x="190873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47409" y="224216"/>
              <a:ext cx="378274" cy="309239"/>
            </a:xfrm>
            <a:custGeom>
              <a:avLst/>
              <a:gdLst/>
              <a:ahLst/>
              <a:cxnLst/>
              <a:rect r="r" b="b" t="t" l="l"/>
              <a:pathLst>
                <a:path h="309239" w="378274">
                  <a:moveTo>
                    <a:pt x="0" y="0"/>
                  </a:moveTo>
                  <a:lnTo>
                    <a:pt x="378274" y="0"/>
                  </a:lnTo>
                  <a:lnTo>
                    <a:pt x="378274" y="309239"/>
                  </a:lnTo>
                  <a:lnTo>
                    <a:pt x="0" y="3092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alphaModFix amt="0"/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 rot="0">
              <a:off x="0" y="586601"/>
              <a:ext cx="473091" cy="1339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24"/>
                </a:lnSpc>
                <a:spcBef>
                  <a:spcPct val="0"/>
                </a:spcBef>
              </a:pPr>
              <a:r>
                <a:rPr lang="en-US" sz="518" spc="10">
                  <a:solidFill>
                    <a:srgbClr val="5170FF">
                      <a:alpha val="0"/>
                    </a:srgbClr>
                  </a:solidFill>
                  <a:latin typeface="Anton"/>
                  <a:ea typeface="Anton"/>
                  <a:cs typeface="Anton"/>
                  <a:sym typeface="Anton"/>
                </a:rPr>
                <a:t>CHOIX DU LLM</a:t>
              </a:r>
            </a:p>
          </p:txBody>
        </p:sp>
      </p:grpSp>
    </p:spTree>
  </p:cSld>
  <p:clrMapOvr>
    <a:masterClrMapping/>
  </p:clrMapOvr>
  <p:transition spd="slow">
    <p:fade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35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5690" y="-152536"/>
            <a:ext cx="3348866" cy="2362473"/>
            <a:chOff x="0" y="0"/>
            <a:chExt cx="4465155" cy="31499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65155" cy="3149964"/>
            </a:xfrm>
            <a:custGeom>
              <a:avLst/>
              <a:gdLst/>
              <a:ahLst/>
              <a:cxnLst/>
              <a:rect r="r" b="b" t="t" l="l"/>
              <a:pathLst>
                <a:path h="3149964" w="4465155">
                  <a:moveTo>
                    <a:pt x="0" y="0"/>
                  </a:moveTo>
                  <a:lnTo>
                    <a:pt x="4465155" y="0"/>
                  </a:lnTo>
                  <a:lnTo>
                    <a:pt x="4465155" y="3149964"/>
                  </a:lnTo>
                  <a:lnTo>
                    <a:pt x="0" y="31499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98015" y="647784"/>
              <a:ext cx="3947220" cy="1505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25"/>
                </a:lnSpc>
                <a:spcBef>
                  <a:spcPct val="0"/>
                </a:spcBef>
              </a:pPr>
              <a:r>
                <a:rPr lang="en-US" sz="2971" spc="59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3.Implementation moteur Agent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38097" y="1537978"/>
            <a:ext cx="1821293" cy="671958"/>
            <a:chOff x="0" y="0"/>
            <a:chExt cx="2428390" cy="89594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558185" y="0"/>
              <a:ext cx="1870206" cy="895944"/>
            </a:xfrm>
            <a:custGeom>
              <a:avLst/>
              <a:gdLst/>
              <a:ahLst/>
              <a:cxnLst/>
              <a:rect r="r" b="b" t="t" l="l"/>
              <a:pathLst>
                <a:path h="895944" w="1870206">
                  <a:moveTo>
                    <a:pt x="0" y="0"/>
                  </a:moveTo>
                  <a:lnTo>
                    <a:pt x="1870205" y="0"/>
                  </a:lnTo>
                  <a:lnTo>
                    <a:pt x="1870205" y="895944"/>
                  </a:lnTo>
                  <a:lnTo>
                    <a:pt x="0" y="895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46452" y="219691"/>
              <a:ext cx="370639" cy="302998"/>
            </a:xfrm>
            <a:custGeom>
              <a:avLst/>
              <a:gdLst/>
              <a:ahLst/>
              <a:cxnLst/>
              <a:rect r="r" b="b" t="t" l="l"/>
              <a:pathLst>
                <a:path h="302998" w="370639">
                  <a:moveTo>
                    <a:pt x="0" y="0"/>
                  </a:moveTo>
                  <a:lnTo>
                    <a:pt x="370639" y="0"/>
                  </a:lnTo>
                  <a:lnTo>
                    <a:pt x="370639" y="302997"/>
                  </a:lnTo>
                  <a:lnTo>
                    <a:pt x="0" y="3029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0" y="574185"/>
              <a:ext cx="463543" cy="1317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08"/>
                </a:lnSpc>
                <a:spcBef>
                  <a:spcPct val="0"/>
                </a:spcBef>
              </a:pPr>
              <a:r>
                <a:rPr lang="en-US" sz="508" spc="10">
                  <a:solidFill>
                    <a:srgbClr val="5170FF">
                      <a:alpha val="0"/>
                    </a:srgbClr>
                  </a:solidFill>
                  <a:latin typeface="Anton"/>
                  <a:ea typeface="Anton"/>
                  <a:cs typeface="Anton"/>
                  <a:sym typeface="Anton"/>
                </a:rPr>
                <a:t>CHOIX DU LLM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38097" y="2480083"/>
            <a:ext cx="17131387" cy="6077401"/>
            <a:chOff x="0" y="0"/>
            <a:chExt cx="22841849" cy="810320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4164638" y="4660809"/>
              <a:ext cx="2693967" cy="3422502"/>
            </a:xfrm>
            <a:custGeom>
              <a:avLst/>
              <a:gdLst/>
              <a:ahLst/>
              <a:cxnLst/>
              <a:rect r="r" b="b" t="t" l="l"/>
              <a:pathLst>
                <a:path h="3422502" w="2693967">
                  <a:moveTo>
                    <a:pt x="0" y="0"/>
                  </a:moveTo>
                  <a:lnTo>
                    <a:pt x="2693966" y="0"/>
                  </a:lnTo>
                  <a:lnTo>
                    <a:pt x="2693966" y="3422502"/>
                  </a:lnTo>
                  <a:lnTo>
                    <a:pt x="0" y="34225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3521" t="0" r="-13521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6363311" y="4680699"/>
              <a:ext cx="2693967" cy="3422502"/>
            </a:xfrm>
            <a:custGeom>
              <a:avLst/>
              <a:gdLst/>
              <a:ahLst/>
              <a:cxnLst/>
              <a:rect r="r" b="b" t="t" l="l"/>
              <a:pathLst>
                <a:path h="3422502" w="2693967">
                  <a:moveTo>
                    <a:pt x="0" y="0"/>
                  </a:moveTo>
                  <a:lnTo>
                    <a:pt x="2693967" y="0"/>
                  </a:lnTo>
                  <a:lnTo>
                    <a:pt x="2693967" y="3422502"/>
                  </a:lnTo>
                  <a:lnTo>
                    <a:pt x="0" y="34225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3521" t="0" r="-13521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8352800" y="4680699"/>
              <a:ext cx="2693967" cy="3422502"/>
            </a:xfrm>
            <a:custGeom>
              <a:avLst/>
              <a:gdLst/>
              <a:ahLst/>
              <a:cxnLst/>
              <a:rect r="r" b="b" t="t" l="l"/>
              <a:pathLst>
                <a:path h="3422502" w="2693967">
                  <a:moveTo>
                    <a:pt x="0" y="0"/>
                  </a:moveTo>
                  <a:lnTo>
                    <a:pt x="2693966" y="0"/>
                  </a:lnTo>
                  <a:lnTo>
                    <a:pt x="2693966" y="3422502"/>
                  </a:lnTo>
                  <a:lnTo>
                    <a:pt x="0" y="34225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3521" t="0" r="-13521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8352800" y="1730990"/>
              <a:ext cx="2693967" cy="3422502"/>
            </a:xfrm>
            <a:custGeom>
              <a:avLst/>
              <a:gdLst/>
              <a:ahLst/>
              <a:cxnLst/>
              <a:rect r="r" b="b" t="t" l="l"/>
              <a:pathLst>
                <a:path h="3422502" w="2693967">
                  <a:moveTo>
                    <a:pt x="0" y="0"/>
                  </a:moveTo>
                  <a:lnTo>
                    <a:pt x="2693966" y="0"/>
                  </a:lnTo>
                  <a:lnTo>
                    <a:pt x="2693966" y="3422502"/>
                  </a:lnTo>
                  <a:lnTo>
                    <a:pt x="0" y="34225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3521" t="0" r="-13521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-127140">
              <a:off x="16304388" y="1772372"/>
              <a:ext cx="2714045" cy="3463945"/>
            </a:xfrm>
            <a:custGeom>
              <a:avLst/>
              <a:gdLst/>
              <a:ahLst/>
              <a:cxnLst/>
              <a:rect r="r" b="b" t="t" l="l"/>
              <a:pathLst>
                <a:path h="3463945" w="2714045">
                  <a:moveTo>
                    <a:pt x="0" y="0"/>
                  </a:moveTo>
                  <a:lnTo>
                    <a:pt x="2714045" y="0"/>
                  </a:lnTo>
                  <a:lnTo>
                    <a:pt x="2714045" y="3463945"/>
                  </a:lnTo>
                  <a:lnTo>
                    <a:pt x="0" y="34639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3815" t="0" r="-13815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4140196" y="1762042"/>
              <a:ext cx="2742851" cy="3484606"/>
            </a:xfrm>
            <a:custGeom>
              <a:avLst/>
              <a:gdLst/>
              <a:ahLst/>
              <a:cxnLst/>
              <a:rect r="r" b="b" t="t" l="l"/>
              <a:pathLst>
                <a:path h="3484606" w="2742851">
                  <a:moveTo>
                    <a:pt x="0" y="0"/>
                  </a:moveTo>
                  <a:lnTo>
                    <a:pt x="2742850" y="0"/>
                  </a:lnTo>
                  <a:lnTo>
                    <a:pt x="2742850" y="3484606"/>
                  </a:lnTo>
                  <a:lnTo>
                    <a:pt x="0" y="34846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3521" t="0" r="-13521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0147883" y="4680699"/>
              <a:ext cx="2693967" cy="3422502"/>
            </a:xfrm>
            <a:custGeom>
              <a:avLst/>
              <a:gdLst/>
              <a:ahLst/>
              <a:cxnLst/>
              <a:rect r="r" b="b" t="t" l="l"/>
              <a:pathLst>
                <a:path h="3422502" w="2693967">
                  <a:moveTo>
                    <a:pt x="0" y="0"/>
                  </a:moveTo>
                  <a:lnTo>
                    <a:pt x="2693966" y="0"/>
                  </a:lnTo>
                  <a:lnTo>
                    <a:pt x="2693966" y="3422502"/>
                  </a:lnTo>
                  <a:lnTo>
                    <a:pt x="0" y="34225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3521" t="0" r="-13521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0147883" y="1730990"/>
              <a:ext cx="2693967" cy="3422502"/>
            </a:xfrm>
            <a:custGeom>
              <a:avLst/>
              <a:gdLst/>
              <a:ahLst/>
              <a:cxnLst/>
              <a:rect r="r" b="b" t="t" l="l"/>
              <a:pathLst>
                <a:path h="3422502" w="2693967">
                  <a:moveTo>
                    <a:pt x="0" y="0"/>
                  </a:moveTo>
                  <a:lnTo>
                    <a:pt x="2693966" y="0"/>
                  </a:lnTo>
                  <a:lnTo>
                    <a:pt x="2693966" y="3422502"/>
                  </a:lnTo>
                  <a:lnTo>
                    <a:pt x="0" y="34225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3521" t="0" r="-13521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1651784" y="3734090"/>
              <a:ext cx="1814204" cy="2818181"/>
            </a:xfrm>
            <a:custGeom>
              <a:avLst/>
              <a:gdLst/>
              <a:ahLst/>
              <a:cxnLst/>
              <a:rect r="r" b="b" t="t" l="l"/>
              <a:pathLst>
                <a:path h="2818181" w="1814204">
                  <a:moveTo>
                    <a:pt x="0" y="0"/>
                  </a:moveTo>
                  <a:lnTo>
                    <a:pt x="1814203" y="0"/>
                  </a:lnTo>
                  <a:lnTo>
                    <a:pt x="1814203" y="2818181"/>
                  </a:lnTo>
                  <a:lnTo>
                    <a:pt x="0" y="28181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6954607" y="-161925"/>
              <a:ext cx="9039860" cy="10215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755"/>
                </a:lnSpc>
                <a:spcBef>
                  <a:spcPct val="0"/>
                </a:spcBef>
              </a:pPr>
              <a:r>
                <a:rPr lang="en-US" sz="4248" spc="84">
                  <a:solidFill>
                    <a:srgbClr val="5170FF"/>
                  </a:solidFill>
                  <a:latin typeface="Anton"/>
                  <a:ea typeface="Anton"/>
                  <a:cs typeface="Anton"/>
                  <a:sym typeface="Anton"/>
                </a:rPr>
                <a:t>ARCHITECTURE SKILLS VS AGENTS</a:t>
              </a:r>
            </a:p>
          </p:txBody>
        </p:sp>
        <p:sp>
          <p:nvSpPr>
            <p:cNvPr name="Freeform 20" id="20"/>
            <p:cNvSpPr/>
            <p:nvPr/>
          </p:nvSpPr>
          <p:spPr>
            <a:xfrm flipH="false" flipV="false" rot="0">
              <a:off x="0" y="2183309"/>
              <a:ext cx="10763168" cy="5919743"/>
            </a:xfrm>
            <a:custGeom>
              <a:avLst/>
              <a:gdLst/>
              <a:ahLst/>
              <a:cxnLst/>
              <a:rect r="r" b="b" t="t" l="l"/>
              <a:pathLst>
                <a:path h="5919743" w="10763168">
                  <a:moveTo>
                    <a:pt x="0" y="0"/>
                  </a:moveTo>
                  <a:lnTo>
                    <a:pt x="10763168" y="0"/>
                  </a:lnTo>
                  <a:lnTo>
                    <a:pt x="10763168" y="5919743"/>
                  </a:lnTo>
                  <a:lnTo>
                    <a:pt x="0" y="5919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7593374" y="7058927"/>
              <a:ext cx="2843225" cy="6780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55"/>
                </a:lnSpc>
                <a:spcBef>
                  <a:spcPct val="0"/>
                </a:spcBef>
              </a:pPr>
              <a:r>
                <a:rPr lang="en-US" sz="2865" spc="57">
                  <a:solidFill>
                    <a:srgbClr val="051C2C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section swap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7090490" y="9548710"/>
            <a:ext cx="4372889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Module: Technique de veille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472162" y="297309"/>
            <a:ext cx="2517458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BDIA2 2025-2026</a:t>
            </a:r>
          </a:p>
        </p:txBody>
      </p:sp>
    </p:spTree>
  </p:cSld>
  <p:clrMapOvr>
    <a:masterClrMapping/>
  </p:clrMapOvr>
  <p:transition spd="slow">
    <p:fade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35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5690" y="-152536"/>
            <a:ext cx="3348866" cy="2362473"/>
            <a:chOff x="0" y="0"/>
            <a:chExt cx="4465155" cy="31499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65155" cy="3149964"/>
            </a:xfrm>
            <a:custGeom>
              <a:avLst/>
              <a:gdLst/>
              <a:ahLst/>
              <a:cxnLst/>
              <a:rect r="r" b="b" t="t" l="l"/>
              <a:pathLst>
                <a:path h="3149964" w="4465155">
                  <a:moveTo>
                    <a:pt x="0" y="0"/>
                  </a:moveTo>
                  <a:lnTo>
                    <a:pt x="4465155" y="0"/>
                  </a:lnTo>
                  <a:lnTo>
                    <a:pt x="4465155" y="3149964"/>
                  </a:lnTo>
                  <a:lnTo>
                    <a:pt x="0" y="31499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98015" y="647784"/>
              <a:ext cx="3947220" cy="1505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25"/>
                </a:lnSpc>
                <a:spcBef>
                  <a:spcPct val="0"/>
                </a:spcBef>
              </a:pPr>
              <a:r>
                <a:rPr lang="en-US" sz="2971" spc="59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3.Implementation moteur Agent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38097" y="1537978"/>
            <a:ext cx="1821293" cy="671958"/>
            <a:chOff x="0" y="0"/>
            <a:chExt cx="2428390" cy="89594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558185" y="0"/>
              <a:ext cx="1870206" cy="895944"/>
            </a:xfrm>
            <a:custGeom>
              <a:avLst/>
              <a:gdLst/>
              <a:ahLst/>
              <a:cxnLst/>
              <a:rect r="r" b="b" t="t" l="l"/>
              <a:pathLst>
                <a:path h="895944" w="1870206">
                  <a:moveTo>
                    <a:pt x="0" y="0"/>
                  </a:moveTo>
                  <a:lnTo>
                    <a:pt x="1870205" y="0"/>
                  </a:lnTo>
                  <a:lnTo>
                    <a:pt x="1870205" y="895944"/>
                  </a:lnTo>
                  <a:lnTo>
                    <a:pt x="0" y="895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46452" y="219691"/>
              <a:ext cx="370639" cy="302998"/>
            </a:xfrm>
            <a:custGeom>
              <a:avLst/>
              <a:gdLst/>
              <a:ahLst/>
              <a:cxnLst/>
              <a:rect r="r" b="b" t="t" l="l"/>
              <a:pathLst>
                <a:path h="302998" w="370639">
                  <a:moveTo>
                    <a:pt x="0" y="0"/>
                  </a:moveTo>
                  <a:lnTo>
                    <a:pt x="370639" y="0"/>
                  </a:lnTo>
                  <a:lnTo>
                    <a:pt x="370639" y="302997"/>
                  </a:lnTo>
                  <a:lnTo>
                    <a:pt x="0" y="3029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0" y="574185"/>
              <a:ext cx="463543" cy="1317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08"/>
                </a:lnSpc>
                <a:spcBef>
                  <a:spcPct val="0"/>
                </a:spcBef>
              </a:pPr>
              <a:r>
                <a:rPr lang="en-US" sz="508" spc="10">
                  <a:solidFill>
                    <a:srgbClr val="5170FF">
                      <a:alpha val="0"/>
                    </a:srgbClr>
                  </a:solidFill>
                  <a:latin typeface="Anton"/>
                  <a:ea typeface="Anton"/>
                  <a:cs typeface="Anton"/>
                  <a:sym typeface="Anton"/>
                </a:rPr>
                <a:t>CHOIX DU LLM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090490" y="9548710"/>
            <a:ext cx="4372889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Module: Technique de veille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472162" y="297309"/>
            <a:ext cx="2517458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BDIA2 2025-2026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28700" y="1526286"/>
            <a:ext cx="1704285" cy="683650"/>
            <a:chOff x="0" y="0"/>
            <a:chExt cx="2272379" cy="91153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611270" y="0"/>
              <a:ext cx="1661109" cy="911534"/>
            </a:xfrm>
            <a:custGeom>
              <a:avLst/>
              <a:gdLst/>
              <a:ahLst/>
              <a:cxnLst/>
              <a:rect r="r" b="b" t="t" l="l"/>
              <a:pathLst>
                <a:path h="911534" w="1661109">
                  <a:moveTo>
                    <a:pt x="0" y="0"/>
                  </a:moveTo>
                  <a:lnTo>
                    <a:pt x="1661109" y="0"/>
                  </a:lnTo>
                  <a:lnTo>
                    <a:pt x="1661109" y="911534"/>
                  </a:lnTo>
                  <a:lnTo>
                    <a:pt x="0" y="9115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56262" y="195014"/>
              <a:ext cx="384706" cy="386816"/>
            </a:xfrm>
            <a:custGeom>
              <a:avLst/>
              <a:gdLst/>
              <a:ahLst/>
              <a:cxnLst/>
              <a:rect r="r" b="b" t="t" l="l"/>
              <a:pathLst>
                <a:path h="386816" w="384706">
                  <a:moveTo>
                    <a:pt x="0" y="0"/>
                  </a:moveTo>
                  <a:lnTo>
                    <a:pt x="384706" y="0"/>
                  </a:lnTo>
                  <a:lnTo>
                    <a:pt x="384706" y="386816"/>
                  </a:lnTo>
                  <a:lnTo>
                    <a:pt x="0" y="3868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0" y="628217"/>
              <a:ext cx="497230" cy="678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8"/>
                </a:lnSpc>
                <a:spcBef>
                  <a:spcPct val="0"/>
                </a:spcBef>
              </a:pPr>
              <a:r>
                <a:rPr lang="en-US" sz="288" spc="5">
                  <a:solidFill>
                    <a:srgbClr val="5170FF">
                      <a:alpha val="0"/>
                    </a:srgbClr>
                  </a:solidFill>
                  <a:latin typeface="Anton"/>
                  <a:ea typeface="Anton"/>
                  <a:cs typeface="Anton"/>
                  <a:sym typeface="Anton"/>
                </a:rPr>
                <a:t>CONFIGURATION TECHNIQUE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30798" y="1507694"/>
            <a:ext cx="693825" cy="508694"/>
            <a:chOff x="0" y="0"/>
            <a:chExt cx="925101" cy="67825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2599" y="312287"/>
              <a:ext cx="286404" cy="363857"/>
            </a:xfrm>
            <a:custGeom>
              <a:avLst/>
              <a:gdLst/>
              <a:ahLst/>
              <a:cxnLst/>
              <a:rect r="r" b="b" t="t" l="l"/>
              <a:pathLst>
                <a:path h="363857" w="286404">
                  <a:moveTo>
                    <a:pt x="0" y="0"/>
                  </a:moveTo>
                  <a:lnTo>
                    <a:pt x="286404" y="0"/>
                  </a:lnTo>
                  <a:lnTo>
                    <a:pt x="286404" y="363858"/>
                  </a:lnTo>
                  <a:lnTo>
                    <a:pt x="0" y="363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13521" t="0" r="-13521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36346" y="314402"/>
              <a:ext cx="286404" cy="363857"/>
            </a:xfrm>
            <a:custGeom>
              <a:avLst/>
              <a:gdLst/>
              <a:ahLst/>
              <a:cxnLst/>
              <a:rect r="r" b="b" t="t" l="l"/>
              <a:pathLst>
                <a:path h="363857" w="286404">
                  <a:moveTo>
                    <a:pt x="0" y="0"/>
                  </a:moveTo>
                  <a:lnTo>
                    <a:pt x="286405" y="0"/>
                  </a:lnTo>
                  <a:lnTo>
                    <a:pt x="286405" y="363857"/>
                  </a:lnTo>
                  <a:lnTo>
                    <a:pt x="0" y="3638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13521" t="0" r="-13521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447855" y="314402"/>
              <a:ext cx="286404" cy="363857"/>
            </a:xfrm>
            <a:custGeom>
              <a:avLst/>
              <a:gdLst/>
              <a:ahLst/>
              <a:cxnLst/>
              <a:rect r="r" b="b" t="t" l="l"/>
              <a:pathLst>
                <a:path h="363857" w="286404">
                  <a:moveTo>
                    <a:pt x="0" y="0"/>
                  </a:moveTo>
                  <a:lnTo>
                    <a:pt x="286405" y="0"/>
                  </a:lnTo>
                  <a:lnTo>
                    <a:pt x="286405" y="363857"/>
                  </a:lnTo>
                  <a:lnTo>
                    <a:pt x="0" y="3638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13521" t="0" r="-13521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447855" y="809"/>
              <a:ext cx="286404" cy="363857"/>
            </a:xfrm>
            <a:custGeom>
              <a:avLst/>
              <a:gdLst/>
              <a:ahLst/>
              <a:cxnLst/>
              <a:rect r="r" b="b" t="t" l="l"/>
              <a:pathLst>
                <a:path h="363857" w="286404">
                  <a:moveTo>
                    <a:pt x="0" y="0"/>
                  </a:moveTo>
                  <a:lnTo>
                    <a:pt x="286405" y="0"/>
                  </a:lnTo>
                  <a:lnTo>
                    <a:pt x="286405" y="363857"/>
                  </a:lnTo>
                  <a:lnTo>
                    <a:pt x="0" y="3638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13521" t="0" r="-13521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-127140">
              <a:off x="230082" y="5208"/>
              <a:ext cx="288539" cy="368263"/>
            </a:xfrm>
            <a:custGeom>
              <a:avLst/>
              <a:gdLst/>
              <a:ahLst/>
              <a:cxnLst/>
              <a:rect r="r" b="b" t="t" l="l"/>
              <a:pathLst>
                <a:path h="368263" w="288539">
                  <a:moveTo>
                    <a:pt x="0" y="0"/>
                  </a:moveTo>
                  <a:lnTo>
                    <a:pt x="288539" y="0"/>
                  </a:lnTo>
                  <a:lnTo>
                    <a:pt x="288539" y="368264"/>
                  </a:lnTo>
                  <a:lnTo>
                    <a:pt x="0" y="3682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13815" t="0" r="-13815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4110"/>
              <a:ext cx="291601" cy="370460"/>
            </a:xfrm>
            <a:custGeom>
              <a:avLst/>
              <a:gdLst/>
              <a:ahLst/>
              <a:cxnLst/>
              <a:rect r="r" b="b" t="t" l="l"/>
              <a:pathLst>
                <a:path h="370460" w="291601">
                  <a:moveTo>
                    <a:pt x="0" y="0"/>
                  </a:moveTo>
                  <a:lnTo>
                    <a:pt x="291601" y="0"/>
                  </a:lnTo>
                  <a:lnTo>
                    <a:pt x="291601" y="370460"/>
                  </a:lnTo>
                  <a:lnTo>
                    <a:pt x="0" y="370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13521" t="0" r="-13521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638696" y="314402"/>
              <a:ext cx="286404" cy="363857"/>
            </a:xfrm>
            <a:custGeom>
              <a:avLst/>
              <a:gdLst/>
              <a:ahLst/>
              <a:cxnLst/>
              <a:rect r="r" b="b" t="t" l="l"/>
              <a:pathLst>
                <a:path h="363857" w="286404">
                  <a:moveTo>
                    <a:pt x="0" y="0"/>
                  </a:moveTo>
                  <a:lnTo>
                    <a:pt x="286405" y="0"/>
                  </a:lnTo>
                  <a:lnTo>
                    <a:pt x="286405" y="363857"/>
                  </a:lnTo>
                  <a:lnTo>
                    <a:pt x="0" y="3638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13521" t="0" r="-13521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638696" y="809"/>
              <a:ext cx="286404" cy="363857"/>
            </a:xfrm>
            <a:custGeom>
              <a:avLst/>
              <a:gdLst/>
              <a:ahLst/>
              <a:cxnLst/>
              <a:rect r="r" b="b" t="t" l="l"/>
              <a:pathLst>
                <a:path h="363857" w="286404">
                  <a:moveTo>
                    <a:pt x="0" y="0"/>
                  </a:moveTo>
                  <a:lnTo>
                    <a:pt x="286405" y="0"/>
                  </a:lnTo>
                  <a:lnTo>
                    <a:pt x="286405" y="363857"/>
                  </a:lnTo>
                  <a:lnTo>
                    <a:pt x="0" y="3638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13521" t="0" r="-13521" b="0"/>
              </a:stretch>
            </a:blipFill>
          </p:spPr>
        </p:sp>
      </p:grpSp>
      <p:sp>
        <p:nvSpPr>
          <p:cNvPr name="Freeform 24" id="24"/>
          <p:cNvSpPr/>
          <p:nvPr/>
        </p:nvSpPr>
        <p:spPr>
          <a:xfrm flipH="false" flipV="false" rot="0">
            <a:off x="1232385" y="1668018"/>
            <a:ext cx="144655" cy="224707"/>
          </a:xfrm>
          <a:custGeom>
            <a:avLst/>
            <a:gdLst/>
            <a:ahLst/>
            <a:cxnLst/>
            <a:rect r="r" b="b" t="t" l="l"/>
            <a:pathLst>
              <a:path h="224707" w="144655">
                <a:moveTo>
                  <a:pt x="0" y="0"/>
                </a:moveTo>
                <a:lnTo>
                  <a:pt x="144655" y="0"/>
                </a:lnTo>
                <a:lnTo>
                  <a:pt x="144655" y="224707"/>
                </a:lnTo>
                <a:lnTo>
                  <a:pt x="0" y="22470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857856" y="1351230"/>
            <a:ext cx="720792" cy="87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8"/>
              </a:lnSpc>
              <a:spcBef>
                <a:spcPct val="0"/>
              </a:spcBef>
            </a:pPr>
            <a:r>
              <a:rPr lang="en-US" sz="451" spc="9">
                <a:solidFill>
                  <a:srgbClr val="5170FF">
                    <a:alpha val="0"/>
                  </a:srgbClr>
                </a:solidFill>
                <a:latin typeface="Anton"/>
                <a:ea typeface="Anton"/>
                <a:cs typeface="Anton"/>
                <a:sym typeface="Anton"/>
              </a:rPr>
              <a:t>ARCHITECTURE SKILLS VS AGENTS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303331" y="1544366"/>
            <a:ext cx="858200" cy="472010"/>
            <a:chOff x="0" y="0"/>
            <a:chExt cx="1144267" cy="62934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44267" cy="629347"/>
            </a:xfrm>
            <a:custGeom>
              <a:avLst/>
              <a:gdLst/>
              <a:ahLst/>
              <a:cxnLst/>
              <a:rect r="r" b="b" t="t" l="l"/>
              <a:pathLst>
                <a:path h="629347" w="1144267">
                  <a:moveTo>
                    <a:pt x="0" y="0"/>
                  </a:moveTo>
                  <a:lnTo>
                    <a:pt x="1144267" y="0"/>
                  </a:lnTo>
                  <a:lnTo>
                    <a:pt x="1144267" y="629347"/>
                  </a:lnTo>
                  <a:lnTo>
                    <a:pt x="0" y="6293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alphaModFix amt="0"/>
              </a:blip>
              <a:stretch>
                <a:fillRect l="0" t="0" r="0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 rot="0">
              <a:off x="807276" y="510432"/>
              <a:ext cx="302272" cy="799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4"/>
                </a:lnSpc>
                <a:spcBef>
                  <a:spcPct val="0"/>
                </a:spcBef>
              </a:pPr>
              <a:r>
                <a:rPr lang="en-US" sz="304" spc="6">
                  <a:solidFill>
                    <a:srgbClr val="051C2C">
                      <a:alpha val="0"/>
                    </a:srgbClr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section swap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10451" y="1437471"/>
            <a:ext cx="1933179" cy="685800"/>
            <a:chOff x="0" y="0"/>
            <a:chExt cx="2577572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598399" y="525946"/>
              <a:ext cx="303999" cy="386210"/>
            </a:xfrm>
            <a:custGeom>
              <a:avLst/>
              <a:gdLst/>
              <a:ahLst/>
              <a:cxnLst/>
              <a:rect r="r" b="b" t="t" l="l"/>
              <a:pathLst>
                <a:path h="386210" w="303999">
                  <a:moveTo>
                    <a:pt x="0" y="0"/>
                  </a:moveTo>
                  <a:lnTo>
                    <a:pt x="303998" y="0"/>
                  </a:lnTo>
                  <a:lnTo>
                    <a:pt x="303998" y="386210"/>
                  </a:lnTo>
                  <a:lnTo>
                    <a:pt x="0" y="3862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13521" t="0" r="-13521" b="0"/>
              </a:stretch>
            </a:blip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1846506" y="528190"/>
              <a:ext cx="303999" cy="386210"/>
            </a:xfrm>
            <a:custGeom>
              <a:avLst/>
              <a:gdLst/>
              <a:ahLst/>
              <a:cxnLst/>
              <a:rect r="r" b="b" t="t" l="l"/>
              <a:pathLst>
                <a:path h="386210" w="303999">
                  <a:moveTo>
                    <a:pt x="0" y="0"/>
                  </a:moveTo>
                  <a:lnTo>
                    <a:pt x="303999" y="0"/>
                  </a:lnTo>
                  <a:lnTo>
                    <a:pt x="303999" y="386210"/>
                  </a:lnTo>
                  <a:lnTo>
                    <a:pt x="0" y="3862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13521" t="0" r="-13521" b="0"/>
              </a:stretch>
            </a:blip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2071009" y="528190"/>
              <a:ext cx="303999" cy="386210"/>
            </a:xfrm>
            <a:custGeom>
              <a:avLst/>
              <a:gdLst/>
              <a:ahLst/>
              <a:cxnLst/>
              <a:rect r="r" b="b" t="t" l="l"/>
              <a:pathLst>
                <a:path h="386210" w="303999">
                  <a:moveTo>
                    <a:pt x="0" y="0"/>
                  </a:moveTo>
                  <a:lnTo>
                    <a:pt x="303999" y="0"/>
                  </a:lnTo>
                  <a:lnTo>
                    <a:pt x="303999" y="386210"/>
                  </a:lnTo>
                  <a:lnTo>
                    <a:pt x="0" y="3862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13521" t="0" r="-13521" b="0"/>
              </a:stretch>
            </a:blip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2071009" y="195332"/>
              <a:ext cx="303999" cy="386210"/>
            </a:xfrm>
            <a:custGeom>
              <a:avLst/>
              <a:gdLst/>
              <a:ahLst/>
              <a:cxnLst/>
              <a:rect r="r" b="b" t="t" l="l"/>
              <a:pathLst>
                <a:path h="386210" w="303999">
                  <a:moveTo>
                    <a:pt x="0" y="0"/>
                  </a:moveTo>
                  <a:lnTo>
                    <a:pt x="303999" y="0"/>
                  </a:lnTo>
                  <a:lnTo>
                    <a:pt x="303999" y="386210"/>
                  </a:lnTo>
                  <a:lnTo>
                    <a:pt x="0" y="3862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13521" t="0" r="-13521" b="0"/>
              </a:stretch>
            </a:blipFill>
          </p:spPr>
        </p:sp>
        <p:sp>
          <p:nvSpPr>
            <p:cNvPr name="Freeform 34" id="34"/>
            <p:cNvSpPr/>
            <p:nvPr/>
          </p:nvSpPr>
          <p:spPr>
            <a:xfrm flipH="false" flipV="false" rot="-127140">
              <a:off x="1839857" y="200002"/>
              <a:ext cx="306264" cy="390886"/>
            </a:xfrm>
            <a:custGeom>
              <a:avLst/>
              <a:gdLst/>
              <a:ahLst/>
              <a:cxnLst/>
              <a:rect r="r" b="b" t="t" l="l"/>
              <a:pathLst>
                <a:path h="390886" w="306264">
                  <a:moveTo>
                    <a:pt x="0" y="0"/>
                  </a:moveTo>
                  <a:lnTo>
                    <a:pt x="306265" y="0"/>
                  </a:lnTo>
                  <a:lnTo>
                    <a:pt x="306265" y="390887"/>
                  </a:lnTo>
                  <a:lnTo>
                    <a:pt x="0" y="3908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13815" t="0" r="-13815" b="0"/>
              </a:stretch>
            </a:blip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1595640" y="198836"/>
              <a:ext cx="309515" cy="393218"/>
            </a:xfrm>
            <a:custGeom>
              <a:avLst/>
              <a:gdLst/>
              <a:ahLst/>
              <a:cxnLst/>
              <a:rect r="r" b="b" t="t" l="l"/>
              <a:pathLst>
                <a:path h="393218" w="309515">
                  <a:moveTo>
                    <a:pt x="0" y="0"/>
                  </a:moveTo>
                  <a:lnTo>
                    <a:pt x="309515" y="0"/>
                  </a:lnTo>
                  <a:lnTo>
                    <a:pt x="309515" y="393218"/>
                  </a:lnTo>
                  <a:lnTo>
                    <a:pt x="0" y="3932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13521" t="0" r="-13521" b="0"/>
              </a:stretch>
            </a:blip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2273574" y="528190"/>
              <a:ext cx="303999" cy="386210"/>
            </a:xfrm>
            <a:custGeom>
              <a:avLst/>
              <a:gdLst/>
              <a:ahLst/>
              <a:cxnLst/>
              <a:rect r="r" b="b" t="t" l="l"/>
              <a:pathLst>
                <a:path h="386210" w="303999">
                  <a:moveTo>
                    <a:pt x="0" y="0"/>
                  </a:moveTo>
                  <a:lnTo>
                    <a:pt x="303998" y="0"/>
                  </a:lnTo>
                  <a:lnTo>
                    <a:pt x="303998" y="386210"/>
                  </a:lnTo>
                  <a:lnTo>
                    <a:pt x="0" y="3862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13521" t="0" r="-13521" b="0"/>
              </a:stretch>
            </a:blip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2273574" y="195332"/>
              <a:ext cx="303999" cy="386210"/>
            </a:xfrm>
            <a:custGeom>
              <a:avLst/>
              <a:gdLst/>
              <a:ahLst/>
              <a:cxnLst/>
              <a:rect r="r" b="b" t="t" l="l"/>
              <a:pathLst>
                <a:path h="386210" w="303999">
                  <a:moveTo>
                    <a:pt x="0" y="0"/>
                  </a:moveTo>
                  <a:lnTo>
                    <a:pt x="303998" y="0"/>
                  </a:lnTo>
                  <a:lnTo>
                    <a:pt x="303998" y="386210"/>
                  </a:lnTo>
                  <a:lnTo>
                    <a:pt x="0" y="3862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13521" t="0" r="-13521" b="0"/>
              </a:stretch>
            </a:blip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1314837" y="421371"/>
              <a:ext cx="204723" cy="318016"/>
            </a:xfrm>
            <a:custGeom>
              <a:avLst/>
              <a:gdLst/>
              <a:ahLst/>
              <a:cxnLst/>
              <a:rect r="r" b="b" t="t" l="l"/>
              <a:pathLst>
                <a:path h="318016" w="204723">
                  <a:moveTo>
                    <a:pt x="0" y="0"/>
                  </a:moveTo>
                  <a:lnTo>
                    <a:pt x="204723" y="0"/>
                  </a:lnTo>
                  <a:lnTo>
                    <a:pt x="204723" y="318015"/>
                  </a:lnTo>
                  <a:lnTo>
                    <a:pt x="0" y="3180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alphaModFix amt="0"/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 rot="0">
              <a:off x="784788" y="-19050"/>
              <a:ext cx="1020097" cy="1160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2"/>
                </a:lnSpc>
                <a:spcBef>
                  <a:spcPct val="0"/>
                </a:spcBef>
              </a:pPr>
              <a:r>
                <a:rPr lang="en-US" sz="479" spc="9">
                  <a:solidFill>
                    <a:srgbClr val="5170FF">
                      <a:alpha val="0"/>
                    </a:srgbClr>
                  </a:solidFill>
                  <a:latin typeface="Anton"/>
                  <a:ea typeface="Anton"/>
                  <a:cs typeface="Anton"/>
                  <a:sym typeface="Anton"/>
                </a:rPr>
                <a:t>ARCHITECTURE SKILLS VS AGENTS</a:t>
              </a:r>
            </a:p>
          </p:txBody>
        </p:sp>
        <p:sp>
          <p:nvSpPr>
            <p:cNvPr name="Freeform 40" id="40"/>
            <p:cNvSpPr/>
            <p:nvPr/>
          </p:nvSpPr>
          <p:spPr>
            <a:xfrm flipH="false" flipV="false" rot="0">
              <a:off x="0" y="246374"/>
              <a:ext cx="1214562" cy="668009"/>
            </a:xfrm>
            <a:custGeom>
              <a:avLst/>
              <a:gdLst/>
              <a:ahLst/>
              <a:cxnLst/>
              <a:rect r="r" b="b" t="t" l="l"/>
              <a:pathLst>
                <a:path h="668009" w="1214562">
                  <a:moveTo>
                    <a:pt x="0" y="0"/>
                  </a:moveTo>
                  <a:lnTo>
                    <a:pt x="1214562" y="0"/>
                  </a:lnTo>
                  <a:lnTo>
                    <a:pt x="1214562" y="668009"/>
                  </a:lnTo>
                  <a:lnTo>
                    <a:pt x="0" y="6680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alphaModFix amt="0"/>
              </a:blip>
              <a:stretch>
                <a:fillRect l="0" t="0" r="0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 rot="0">
              <a:off x="856869" y="789333"/>
              <a:ext cx="320842" cy="837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14"/>
                </a:lnSpc>
                <a:spcBef>
                  <a:spcPct val="0"/>
                </a:spcBef>
              </a:pPr>
              <a:r>
                <a:rPr lang="en-US" sz="323" spc="6">
                  <a:solidFill>
                    <a:srgbClr val="051C2C">
                      <a:alpha val="0"/>
                    </a:srgbClr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section swap</a:t>
              </a:r>
            </a:p>
          </p:txBody>
        </p:sp>
      </p:grpSp>
    </p:spTree>
  </p:cSld>
  <p:clrMapOvr>
    <a:masterClrMapping/>
  </p:clrMapOvr>
  <p:transition spd="slow">
    <p:fade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35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5690" y="-152536"/>
            <a:ext cx="3348866" cy="2362473"/>
            <a:chOff x="0" y="0"/>
            <a:chExt cx="4465155" cy="31499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65155" cy="3149964"/>
            </a:xfrm>
            <a:custGeom>
              <a:avLst/>
              <a:gdLst/>
              <a:ahLst/>
              <a:cxnLst/>
              <a:rect r="r" b="b" t="t" l="l"/>
              <a:pathLst>
                <a:path h="3149964" w="4465155">
                  <a:moveTo>
                    <a:pt x="0" y="0"/>
                  </a:moveTo>
                  <a:lnTo>
                    <a:pt x="4465155" y="0"/>
                  </a:lnTo>
                  <a:lnTo>
                    <a:pt x="4465155" y="3149964"/>
                  </a:lnTo>
                  <a:lnTo>
                    <a:pt x="0" y="31499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98015" y="647784"/>
              <a:ext cx="3947220" cy="1505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25"/>
                </a:lnSpc>
                <a:spcBef>
                  <a:spcPct val="0"/>
                </a:spcBef>
              </a:pPr>
              <a:r>
                <a:rPr lang="en-US" sz="2971" spc="59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3.Implementation moteur Agent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38097" y="1537978"/>
            <a:ext cx="1821293" cy="671958"/>
            <a:chOff x="0" y="0"/>
            <a:chExt cx="2428390" cy="89594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558185" y="0"/>
              <a:ext cx="1870206" cy="895944"/>
            </a:xfrm>
            <a:custGeom>
              <a:avLst/>
              <a:gdLst/>
              <a:ahLst/>
              <a:cxnLst/>
              <a:rect r="r" b="b" t="t" l="l"/>
              <a:pathLst>
                <a:path h="895944" w="1870206">
                  <a:moveTo>
                    <a:pt x="0" y="0"/>
                  </a:moveTo>
                  <a:lnTo>
                    <a:pt x="1870205" y="0"/>
                  </a:lnTo>
                  <a:lnTo>
                    <a:pt x="1870205" y="895944"/>
                  </a:lnTo>
                  <a:lnTo>
                    <a:pt x="0" y="895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46452" y="219691"/>
              <a:ext cx="370639" cy="302998"/>
            </a:xfrm>
            <a:custGeom>
              <a:avLst/>
              <a:gdLst/>
              <a:ahLst/>
              <a:cxnLst/>
              <a:rect r="r" b="b" t="t" l="l"/>
              <a:pathLst>
                <a:path h="302998" w="370639">
                  <a:moveTo>
                    <a:pt x="0" y="0"/>
                  </a:moveTo>
                  <a:lnTo>
                    <a:pt x="370639" y="0"/>
                  </a:lnTo>
                  <a:lnTo>
                    <a:pt x="370639" y="302997"/>
                  </a:lnTo>
                  <a:lnTo>
                    <a:pt x="0" y="3029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0" y="574185"/>
              <a:ext cx="463543" cy="1317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08"/>
                </a:lnSpc>
                <a:spcBef>
                  <a:spcPct val="0"/>
                </a:spcBef>
              </a:pPr>
              <a:r>
                <a:rPr lang="en-US" sz="508" spc="10">
                  <a:solidFill>
                    <a:srgbClr val="5170FF">
                      <a:alpha val="0"/>
                    </a:srgbClr>
                  </a:solidFill>
                  <a:latin typeface="Anton"/>
                  <a:ea typeface="Anton"/>
                  <a:cs typeface="Anton"/>
                  <a:sym typeface="Anton"/>
                </a:rPr>
                <a:t>CHOIX DU LLM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090490" y="9548710"/>
            <a:ext cx="4372889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Module: Technique de veille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472162" y="297309"/>
            <a:ext cx="2517458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BDIA2 2025-2026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55105" y="2129477"/>
            <a:ext cx="17632895" cy="7073194"/>
            <a:chOff x="0" y="0"/>
            <a:chExt cx="23510526" cy="943092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6324330" y="0"/>
              <a:ext cx="17186196" cy="9430925"/>
            </a:xfrm>
            <a:custGeom>
              <a:avLst/>
              <a:gdLst/>
              <a:ahLst/>
              <a:cxnLst/>
              <a:rect r="r" b="b" t="t" l="l"/>
              <a:pathLst>
                <a:path h="9430925" w="17186196">
                  <a:moveTo>
                    <a:pt x="0" y="0"/>
                  </a:moveTo>
                  <a:lnTo>
                    <a:pt x="17186196" y="0"/>
                  </a:lnTo>
                  <a:lnTo>
                    <a:pt x="17186196" y="9430925"/>
                  </a:lnTo>
                  <a:lnTo>
                    <a:pt x="0" y="94309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582100" y="2017656"/>
              <a:ext cx="3980252" cy="4002081"/>
            </a:xfrm>
            <a:custGeom>
              <a:avLst/>
              <a:gdLst/>
              <a:ahLst/>
              <a:cxnLst/>
              <a:rect r="r" b="b" t="t" l="l"/>
              <a:pathLst>
                <a:path h="4002081" w="3980252">
                  <a:moveTo>
                    <a:pt x="0" y="0"/>
                  </a:moveTo>
                  <a:lnTo>
                    <a:pt x="3980252" y="0"/>
                  </a:lnTo>
                  <a:lnTo>
                    <a:pt x="3980252" y="4002081"/>
                  </a:lnTo>
                  <a:lnTo>
                    <a:pt x="0" y="40020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0" y="6483912"/>
              <a:ext cx="5144453" cy="7175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40"/>
                </a:lnSpc>
                <a:spcBef>
                  <a:spcPct val="0"/>
                </a:spcBef>
              </a:pPr>
              <a:r>
                <a:rPr lang="en-US" sz="2981" spc="59">
                  <a:solidFill>
                    <a:srgbClr val="5170FF"/>
                  </a:solidFill>
                  <a:latin typeface="Anton"/>
                  <a:ea typeface="Anton"/>
                  <a:cs typeface="Anton"/>
                  <a:sym typeface="Anton"/>
                </a:rPr>
                <a:t>CONFIGURATION TECHNIQUE</a:t>
              </a:r>
            </a:p>
          </p:txBody>
        </p:sp>
      </p:grpSp>
    </p:spTree>
  </p:cSld>
  <p:clrMapOvr>
    <a:masterClrMapping/>
  </p:clrMapOvr>
  <p:transition spd="slow">
    <p:fade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35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5690" y="-152536"/>
            <a:ext cx="3348866" cy="2362473"/>
            <a:chOff x="0" y="0"/>
            <a:chExt cx="4465155" cy="31499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65155" cy="3149964"/>
            </a:xfrm>
            <a:custGeom>
              <a:avLst/>
              <a:gdLst/>
              <a:ahLst/>
              <a:cxnLst/>
              <a:rect r="r" b="b" t="t" l="l"/>
              <a:pathLst>
                <a:path h="3149964" w="4465155">
                  <a:moveTo>
                    <a:pt x="0" y="0"/>
                  </a:moveTo>
                  <a:lnTo>
                    <a:pt x="4465155" y="0"/>
                  </a:lnTo>
                  <a:lnTo>
                    <a:pt x="4465155" y="3149964"/>
                  </a:lnTo>
                  <a:lnTo>
                    <a:pt x="0" y="31499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98015" y="647784"/>
              <a:ext cx="3947220" cy="1505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25"/>
                </a:lnSpc>
                <a:spcBef>
                  <a:spcPct val="0"/>
                </a:spcBef>
              </a:pPr>
              <a:r>
                <a:rPr lang="en-US" sz="2971" spc="59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3.Implementation moteur Agent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38097" y="1537978"/>
            <a:ext cx="1821293" cy="671958"/>
            <a:chOff x="0" y="0"/>
            <a:chExt cx="2428390" cy="89594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558185" y="0"/>
              <a:ext cx="1870206" cy="895944"/>
            </a:xfrm>
            <a:custGeom>
              <a:avLst/>
              <a:gdLst/>
              <a:ahLst/>
              <a:cxnLst/>
              <a:rect r="r" b="b" t="t" l="l"/>
              <a:pathLst>
                <a:path h="895944" w="1870206">
                  <a:moveTo>
                    <a:pt x="0" y="0"/>
                  </a:moveTo>
                  <a:lnTo>
                    <a:pt x="1870205" y="0"/>
                  </a:lnTo>
                  <a:lnTo>
                    <a:pt x="1870205" y="895944"/>
                  </a:lnTo>
                  <a:lnTo>
                    <a:pt x="0" y="895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46452" y="219691"/>
              <a:ext cx="370639" cy="302998"/>
            </a:xfrm>
            <a:custGeom>
              <a:avLst/>
              <a:gdLst/>
              <a:ahLst/>
              <a:cxnLst/>
              <a:rect r="r" b="b" t="t" l="l"/>
              <a:pathLst>
                <a:path h="302998" w="370639">
                  <a:moveTo>
                    <a:pt x="0" y="0"/>
                  </a:moveTo>
                  <a:lnTo>
                    <a:pt x="370639" y="0"/>
                  </a:lnTo>
                  <a:lnTo>
                    <a:pt x="370639" y="302997"/>
                  </a:lnTo>
                  <a:lnTo>
                    <a:pt x="0" y="3029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0" y="574185"/>
              <a:ext cx="463543" cy="1317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08"/>
                </a:lnSpc>
                <a:spcBef>
                  <a:spcPct val="0"/>
                </a:spcBef>
              </a:pPr>
              <a:r>
                <a:rPr lang="en-US" sz="508" spc="10">
                  <a:solidFill>
                    <a:srgbClr val="5170FF">
                      <a:alpha val="0"/>
                    </a:srgbClr>
                  </a:solidFill>
                  <a:latin typeface="Anton"/>
                  <a:ea typeface="Anton"/>
                  <a:cs typeface="Anton"/>
                  <a:sym typeface="Anton"/>
                </a:rPr>
                <a:t>CHOIX DU LLM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090490" y="9548710"/>
            <a:ext cx="4372889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Module: Technique de veille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472162" y="297309"/>
            <a:ext cx="2517458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BDIA2 2025-2026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28700" y="1526286"/>
            <a:ext cx="1704285" cy="683650"/>
            <a:chOff x="0" y="0"/>
            <a:chExt cx="2272379" cy="91153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611270" y="0"/>
              <a:ext cx="1661109" cy="911534"/>
            </a:xfrm>
            <a:custGeom>
              <a:avLst/>
              <a:gdLst/>
              <a:ahLst/>
              <a:cxnLst/>
              <a:rect r="r" b="b" t="t" l="l"/>
              <a:pathLst>
                <a:path h="911534" w="1661109">
                  <a:moveTo>
                    <a:pt x="0" y="0"/>
                  </a:moveTo>
                  <a:lnTo>
                    <a:pt x="1661109" y="0"/>
                  </a:lnTo>
                  <a:lnTo>
                    <a:pt x="1661109" y="911534"/>
                  </a:lnTo>
                  <a:lnTo>
                    <a:pt x="0" y="9115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56262" y="195014"/>
              <a:ext cx="384706" cy="386816"/>
            </a:xfrm>
            <a:custGeom>
              <a:avLst/>
              <a:gdLst/>
              <a:ahLst/>
              <a:cxnLst/>
              <a:rect r="r" b="b" t="t" l="l"/>
              <a:pathLst>
                <a:path h="386816" w="384706">
                  <a:moveTo>
                    <a:pt x="0" y="0"/>
                  </a:moveTo>
                  <a:lnTo>
                    <a:pt x="384706" y="0"/>
                  </a:lnTo>
                  <a:lnTo>
                    <a:pt x="384706" y="386816"/>
                  </a:lnTo>
                  <a:lnTo>
                    <a:pt x="0" y="3868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0" y="628217"/>
              <a:ext cx="497230" cy="678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8"/>
                </a:lnSpc>
                <a:spcBef>
                  <a:spcPct val="0"/>
                </a:spcBef>
              </a:pPr>
              <a:r>
                <a:rPr lang="en-US" sz="288" spc="5">
                  <a:solidFill>
                    <a:srgbClr val="5170FF">
                      <a:alpha val="0"/>
                    </a:srgbClr>
                  </a:solidFill>
                  <a:latin typeface="Anton"/>
                  <a:ea typeface="Anton"/>
                  <a:cs typeface="Anton"/>
                  <a:sym typeface="Anton"/>
                </a:rPr>
                <a:t>CONFIGURATION TECHNIQUE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30798" y="1507694"/>
            <a:ext cx="693825" cy="508694"/>
            <a:chOff x="0" y="0"/>
            <a:chExt cx="925101" cy="67825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2599" y="312287"/>
              <a:ext cx="286404" cy="363857"/>
            </a:xfrm>
            <a:custGeom>
              <a:avLst/>
              <a:gdLst/>
              <a:ahLst/>
              <a:cxnLst/>
              <a:rect r="r" b="b" t="t" l="l"/>
              <a:pathLst>
                <a:path h="363857" w="286404">
                  <a:moveTo>
                    <a:pt x="0" y="0"/>
                  </a:moveTo>
                  <a:lnTo>
                    <a:pt x="286404" y="0"/>
                  </a:lnTo>
                  <a:lnTo>
                    <a:pt x="286404" y="363858"/>
                  </a:lnTo>
                  <a:lnTo>
                    <a:pt x="0" y="363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13521" t="0" r="-13521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36346" y="314402"/>
              <a:ext cx="286404" cy="363857"/>
            </a:xfrm>
            <a:custGeom>
              <a:avLst/>
              <a:gdLst/>
              <a:ahLst/>
              <a:cxnLst/>
              <a:rect r="r" b="b" t="t" l="l"/>
              <a:pathLst>
                <a:path h="363857" w="286404">
                  <a:moveTo>
                    <a:pt x="0" y="0"/>
                  </a:moveTo>
                  <a:lnTo>
                    <a:pt x="286405" y="0"/>
                  </a:lnTo>
                  <a:lnTo>
                    <a:pt x="286405" y="363857"/>
                  </a:lnTo>
                  <a:lnTo>
                    <a:pt x="0" y="3638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13521" t="0" r="-13521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447855" y="314402"/>
              <a:ext cx="286404" cy="363857"/>
            </a:xfrm>
            <a:custGeom>
              <a:avLst/>
              <a:gdLst/>
              <a:ahLst/>
              <a:cxnLst/>
              <a:rect r="r" b="b" t="t" l="l"/>
              <a:pathLst>
                <a:path h="363857" w="286404">
                  <a:moveTo>
                    <a:pt x="0" y="0"/>
                  </a:moveTo>
                  <a:lnTo>
                    <a:pt x="286405" y="0"/>
                  </a:lnTo>
                  <a:lnTo>
                    <a:pt x="286405" y="363857"/>
                  </a:lnTo>
                  <a:lnTo>
                    <a:pt x="0" y="3638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13521" t="0" r="-13521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447855" y="809"/>
              <a:ext cx="286404" cy="363857"/>
            </a:xfrm>
            <a:custGeom>
              <a:avLst/>
              <a:gdLst/>
              <a:ahLst/>
              <a:cxnLst/>
              <a:rect r="r" b="b" t="t" l="l"/>
              <a:pathLst>
                <a:path h="363857" w="286404">
                  <a:moveTo>
                    <a:pt x="0" y="0"/>
                  </a:moveTo>
                  <a:lnTo>
                    <a:pt x="286405" y="0"/>
                  </a:lnTo>
                  <a:lnTo>
                    <a:pt x="286405" y="363857"/>
                  </a:lnTo>
                  <a:lnTo>
                    <a:pt x="0" y="3638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13521" t="0" r="-13521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-127140">
              <a:off x="230082" y="5208"/>
              <a:ext cx="288539" cy="368263"/>
            </a:xfrm>
            <a:custGeom>
              <a:avLst/>
              <a:gdLst/>
              <a:ahLst/>
              <a:cxnLst/>
              <a:rect r="r" b="b" t="t" l="l"/>
              <a:pathLst>
                <a:path h="368263" w="288539">
                  <a:moveTo>
                    <a:pt x="0" y="0"/>
                  </a:moveTo>
                  <a:lnTo>
                    <a:pt x="288539" y="0"/>
                  </a:lnTo>
                  <a:lnTo>
                    <a:pt x="288539" y="368264"/>
                  </a:lnTo>
                  <a:lnTo>
                    <a:pt x="0" y="3682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13815" t="0" r="-13815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4110"/>
              <a:ext cx="291601" cy="370460"/>
            </a:xfrm>
            <a:custGeom>
              <a:avLst/>
              <a:gdLst/>
              <a:ahLst/>
              <a:cxnLst/>
              <a:rect r="r" b="b" t="t" l="l"/>
              <a:pathLst>
                <a:path h="370460" w="291601">
                  <a:moveTo>
                    <a:pt x="0" y="0"/>
                  </a:moveTo>
                  <a:lnTo>
                    <a:pt x="291601" y="0"/>
                  </a:lnTo>
                  <a:lnTo>
                    <a:pt x="291601" y="370460"/>
                  </a:lnTo>
                  <a:lnTo>
                    <a:pt x="0" y="370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13521" t="0" r="-13521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638696" y="314402"/>
              <a:ext cx="286404" cy="363857"/>
            </a:xfrm>
            <a:custGeom>
              <a:avLst/>
              <a:gdLst/>
              <a:ahLst/>
              <a:cxnLst/>
              <a:rect r="r" b="b" t="t" l="l"/>
              <a:pathLst>
                <a:path h="363857" w="286404">
                  <a:moveTo>
                    <a:pt x="0" y="0"/>
                  </a:moveTo>
                  <a:lnTo>
                    <a:pt x="286405" y="0"/>
                  </a:lnTo>
                  <a:lnTo>
                    <a:pt x="286405" y="363857"/>
                  </a:lnTo>
                  <a:lnTo>
                    <a:pt x="0" y="3638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13521" t="0" r="-13521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638696" y="809"/>
              <a:ext cx="286404" cy="363857"/>
            </a:xfrm>
            <a:custGeom>
              <a:avLst/>
              <a:gdLst/>
              <a:ahLst/>
              <a:cxnLst/>
              <a:rect r="r" b="b" t="t" l="l"/>
              <a:pathLst>
                <a:path h="363857" w="286404">
                  <a:moveTo>
                    <a:pt x="0" y="0"/>
                  </a:moveTo>
                  <a:lnTo>
                    <a:pt x="286405" y="0"/>
                  </a:lnTo>
                  <a:lnTo>
                    <a:pt x="286405" y="363857"/>
                  </a:lnTo>
                  <a:lnTo>
                    <a:pt x="0" y="3638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13521" t="0" r="-13521" b="0"/>
              </a:stretch>
            </a:blipFill>
          </p:spPr>
        </p:sp>
      </p:grpSp>
      <p:sp>
        <p:nvSpPr>
          <p:cNvPr name="Freeform 24" id="24"/>
          <p:cNvSpPr/>
          <p:nvPr/>
        </p:nvSpPr>
        <p:spPr>
          <a:xfrm flipH="false" flipV="false" rot="0">
            <a:off x="1232385" y="1668018"/>
            <a:ext cx="144655" cy="224707"/>
          </a:xfrm>
          <a:custGeom>
            <a:avLst/>
            <a:gdLst/>
            <a:ahLst/>
            <a:cxnLst/>
            <a:rect r="r" b="b" t="t" l="l"/>
            <a:pathLst>
              <a:path h="224707" w="144655">
                <a:moveTo>
                  <a:pt x="0" y="0"/>
                </a:moveTo>
                <a:lnTo>
                  <a:pt x="144655" y="0"/>
                </a:lnTo>
                <a:lnTo>
                  <a:pt x="144655" y="224707"/>
                </a:lnTo>
                <a:lnTo>
                  <a:pt x="0" y="22470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857856" y="1351230"/>
            <a:ext cx="720792" cy="87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8"/>
              </a:lnSpc>
              <a:spcBef>
                <a:spcPct val="0"/>
              </a:spcBef>
            </a:pPr>
            <a:r>
              <a:rPr lang="en-US" sz="451" spc="9">
                <a:solidFill>
                  <a:srgbClr val="5170FF">
                    <a:alpha val="0"/>
                  </a:srgbClr>
                </a:solidFill>
                <a:latin typeface="Anton"/>
                <a:ea typeface="Anton"/>
                <a:cs typeface="Anton"/>
                <a:sym typeface="Anton"/>
              </a:rPr>
              <a:t>ARCHITECTURE SKILLS VS AGENTS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303331" y="1544366"/>
            <a:ext cx="858200" cy="472010"/>
            <a:chOff x="0" y="0"/>
            <a:chExt cx="1144267" cy="62934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44267" cy="629347"/>
            </a:xfrm>
            <a:custGeom>
              <a:avLst/>
              <a:gdLst/>
              <a:ahLst/>
              <a:cxnLst/>
              <a:rect r="r" b="b" t="t" l="l"/>
              <a:pathLst>
                <a:path h="629347" w="1144267">
                  <a:moveTo>
                    <a:pt x="0" y="0"/>
                  </a:moveTo>
                  <a:lnTo>
                    <a:pt x="1144267" y="0"/>
                  </a:lnTo>
                  <a:lnTo>
                    <a:pt x="1144267" y="629347"/>
                  </a:lnTo>
                  <a:lnTo>
                    <a:pt x="0" y="6293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alphaModFix amt="0"/>
              </a:blip>
              <a:stretch>
                <a:fillRect l="0" t="0" r="0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 rot="0">
              <a:off x="807276" y="510432"/>
              <a:ext cx="302272" cy="799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4"/>
                </a:lnSpc>
                <a:spcBef>
                  <a:spcPct val="0"/>
                </a:spcBef>
              </a:pPr>
              <a:r>
                <a:rPr lang="en-US" sz="304" spc="6">
                  <a:solidFill>
                    <a:srgbClr val="051C2C">
                      <a:alpha val="0"/>
                    </a:srgbClr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section swap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52790" y="1404552"/>
            <a:ext cx="1703845" cy="640270"/>
            <a:chOff x="0" y="0"/>
            <a:chExt cx="2271794" cy="85369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754118" y="0"/>
              <a:ext cx="1517676" cy="853693"/>
            </a:xfrm>
            <a:custGeom>
              <a:avLst/>
              <a:gdLst/>
              <a:ahLst/>
              <a:cxnLst/>
              <a:rect r="r" b="b" t="t" l="l"/>
              <a:pathLst>
                <a:path h="853693" w="1517676">
                  <a:moveTo>
                    <a:pt x="0" y="0"/>
                  </a:moveTo>
                  <a:lnTo>
                    <a:pt x="1517676" y="0"/>
                  </a:lnTo>
                  <a:lnTo>
                    <a:pt x="1517676" y="853693"/>
                  </a:lnTo>
                  <a:lnTo>
                    <a:pt x="0" y="8536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alphaModFix amt="0"/>
              </a:blip>
              <a:stretch>
                <a:fillRect l="0" t="0" r="0" b="0"/>
              </a:stretch>
            </a:blip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41295" y="132577"/>
              <a:ext cx="495306" cy="495306"/>
            </a:xfrm>
            <a:custGeom>
              <a:avLst/>
              <a:gdLst/>
              <a:ahLst/>
              <a:cxnLst/>
              <a:rect r="r" b="b" t="t" l="l"/>
              <a:pathLst>
                <a:path h="495306" w="495306">
                  <a:moveTo>
                    <a:pt x="0" y="0"/>
                  </a:moveTo>
                  <a:lnTo>
                    <a:pt x="495306" y="0"/>
                  </a:lnTo>
                  <a:lnTo>
                    <a:pt x="495306" y="495306"/>
                  </a:lnTo>
                  <a:lnTo>
                    <a:pt x="0" y="4953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alphaModFix amt="0"/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 rot="0">
              <a:off x="0" y="690439"/>
              <a:ext cx="615623" cy="666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8"/>
                </a:lnSpc>
                <a:spcBef>
                  <a:spcPct val="0"/>
                </a:spcBef>
              </a:pPr>
              <a:r>
                <a:rPr lang="en-US" sz="282" spc="5">
                  <a:solidFill>
                    <a:srgbClr val="5170FF">
                      <a:alpha val="0"/>
                    </a:srgbClr>
                  </a:solidFill>
                  <a:latin typeface="Anton"/>
                  <a:ea typeface="Anton"/>
                  <a:cs typeface="Anton"/>
                  <a:sym typeface="Anton"/>
                </a:rPr>
                <a:t>CONFIGURATION DES SOUS AGENTS</a:t>
              </a:r>
            </a:p>
          </p:txBody>
        </p:sp>
      </p:grpSp>
    </p:spTree>
  </p:cSld>
  <p:clrMapOvr>
    <a:masterClrMapping/>
  </p:clrMapOvr>
  <p:transition spd="slow">
    <p:fade/>
  </p:transition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35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5690" y="-152536"/>
            <a:ext cx="3348866" cy="2362473"/>
            <a:chOff x="0" y="0"/>
            <a:chExt cx="4465155" cy="31499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65155" cy="3149964"/>
            </a:xfrm>
            <a:custGeom>
              <a:avLst/>
              <a:gdLst/>
              <a:ahLst/>
              <a:cxnLst/>
              <a:rect r="r" b="b" t="t" l="l"/>
              <a:pathLst>
                <a:path h="3149964" w="4465155">
                  <a:moveTo>
                    <a:pt x="0" y="0"/>
                  </a:moveTo>
                  <a:lnTo>
                    <a:pt x="4465155" y="0"/>
                  </a:lnTo>
                  <a:lnTo>
                    <a:pt x="4465155" y="3149964"/>
                  </a:lnTo>
                  <a:lnTo>
                    <a:pt x="0" y="31499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98015" y="647784"/>
              <a:ext cx="3947220" cy="1505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25"/>
                </a:lnSpc>
                <a:spcBef>
                  <a:spcPct val="0"/>
                </a:spcBef>
              </a:pPr>
              <a:r>
                <a:rPr lang="en-US" sz="2971" spc="59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3.Implementation moteur Agent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38097" y="1537978"/>
            <a:ext cx="1821293" cy="671958"/>
            <a:chOff x="0" y="0"/>
            <a:chExt cx="2428390" cy="89594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558185" y="0"/>
              <a:ext cx="1870206" cy="895944"/>
            </a:xfrm>
            <a:custGeom>
              <a:avLst/>
              <a:gdLst/>
              <a:ahLst/>
              <a:cxnLst/>
              <a:rect r="r" b="b" t="t" l="l"/>
              <a:pathLst>
                <a:path h="895944" w="1870206">
                  <a:moveTo>
                    <a:pt x="0" y="0"/>
                  </a:moveTo>
                  <a:lnTo>
                    <a:pt x="1870205" y="0"/>
                  </a:lnTo>
                  <a:lnTo>
                    <a:pt x="1870205" y="895944"/>
                  </a:lnTo>
                  <a:lnTo>
                    <a:pt x="0" y="895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46452" y="219691"/>
              <a:ext cx="370639" cy="302998"/>
            </a:xfrm>
            <a:custGeom>
              <a:avLst/>
              <a:gdLst/>
              <a:ahLst/>
              <a:cxnLst/>
              <a:rect r="r" b="b" t="t" l="l"/>
              <a:pathLst>
                <a:path h="302998" w="370639">
                  <a:moveTo>
                    <a:pt x="0" y="0"/>
                  </a:moveTo>
                  <a:lnTo>
                    <a:pt x="370639" y="0"/>
                  </a:lnTo>
                  <a:lnTo>
                    <a:pt x="370639" y="302997"/>
                  </a:lnTo>
                  <a:lnTo>
                    <a:pt x="0" y="3029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0" y="574185"/>
              <a:ext cx="463543" cy="1317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08"/>
                </a:lnSpc>
                <a:spcBef>
                  <a:spcPct val="0"/>
                </a:spcBef>
              </a:pPr>
              <a:r>
                <a:rPr lang="en-US" sz="508" spc="10">
                  <a:solidFill>
                    <a:srgbClr val="5170FF">
                      <a:alpha val="0"/>
                    </a:srgbClr>
                  </a:solidFill>
                  <a:latin typeface="Anton"/>
                  <a:ea typeface="Anton"/>
                  <a:cs typeface="Anton"/>
                  <a:sym typeface="Anton"/>
                </a:rPr>
                <a:t>CHOIX DU LLM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090490" y="9548710"/>
            <a:ext cx="4372889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Module: Technique de veille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472162" y="297309"/>
            <a:ext cx="2517458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BDIA2 2025-2026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295867" y="2209936"/>
            <a:ext cx="17785148" cy="6683289"/>
            <a:chOff x="0" y="0"/>
            <a:chExt cx="23713530" cy="891105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7871660" y="0"/>
              <a:ext cx="15841870" cy="8911052"/>
            </a:xfrm>
            <a:custGeom>
              <a:avLst/>
              <a:gdLst/>
              <a:ahLst/>
              <a:cxnLst/>
              <a:rect r="r" b="b" t="t" l="l"/>
              <a:pathLst>
                <a:path h="8911052" w="15841870">
                  <a:moveTo>
                    <a:pt x="0" y="0"/>
                  </a:moveTo>
                  <a:lnTo>
                    <a:pt x="15841870" y="0"/>
                  </a:lnTo>
                  <a:lnTo>
                    <a:pt x="15841870" y="8911052"/>
                  </a:lnTo>
                  <a:lnTo>
                    <a:pt x="0" y="89110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431048" y="1383875"/>
              <a:ext cx="5170121" cy="5170121"/>
            </a:xfrm>
            <a:custGeom>
              <a:avLst/>
              <a:gdLst/>
              <a:ahLst/>
              <a:cxnLst/>
              <a:rect r="r" b="b" t="t" l="l"/>
              <a:pathLst>
                <a:path h="5170121" w="5170121">
                  <a:moveTo>
                    <a:pt x="0" y="0"/>
                  </a:moveTo>
                  <a:lnTo>
                    <a:pt x="5170122" y="0"/>
                  </a:lnTo>
                  <a:lnTo>
                    <a:pt x="5170122" y="5170121"/>
                  </a:lnTo>
                  <a:lnTo>
                    <a:pt x="0" y="5170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0" y="7201615"/>
              <a:ext cx="6426026" cy="7010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85"/>
                </a:lnSpc>
                <a:spcBef>
                  <a:spcPct val="0"/>
                </a:spcBef>
              </a:pPr>
              <a:r>
                <a:rPr lang="en-US" sz="2947" spc="58">
                  <a:solidFill>
                    <a:srgbClr val="5170FF"/>
                  </a:solidFill>
                  <a:latin typeface="Anton"/>
                  <a:ea typeface="Anton"/>
                  <a:cs typeface="Anton"/>
                  <a:sym typeface="Anton"/>
                </a:rPr>
                <a:t>CONFIGURATION DES SOUS AGENTS</a:t>
              </a:r>
            </a:p>
          </p:txBody>
        </p:sp>
      </p:grpSp>
    </p:spTree>
  </p:cSld>
  <p:clrMapOvr>
    <a:masterClrMapping/>
  </p:clrMapOvr>
  <p:transition spd="slow">
    <p:fade/>
  </p:transition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35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5690" y="-152536"/>
            <a:ext cx="3348866" cy="2362473"/>
            <a:chOff x="0" y="0"/>
            <a:chExt cx="4465155" cy="31499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65155" cy="3149964"/>
            </a:xfrm>
            <a:custGeom>
              <a:avLst/>
              <a:gdLst/>
              <a:ahLst/>
              <a:cxnLst/>
              <a:rect r="r" b="b" t="t" l="l"/>
              <a:pathLst>
                <a:path h="3149964" w="4465155">
                  <a:moveTo>
                    <a:pt x="0" y="0"/>
                  </a:moveTo>
                  <a:lnTo>
                    <a:pt x="4465155" y="0"/>
                  </a:lnTo>
                  <a:lnTo>
                    <a:pt x="4465155" y="3149964"/>
                  </a:lnTo>
                  <a:lnTo>
                    <a:pt x="0" y="31499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98015" y="647784"/>
              <a:ext cx="3947220" cy="1505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25"/>
                </a:lnSpc>
                <a:spcBef>
                  <a:spcPct val="0"/>
                </a:spcBef>
              </a:pPr>
              <a:r>
                <a:rPr lang="en-US" sz="2971" spc="59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3.Implementation moteur Agent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090490" y="9548710"/>
            <a:ext cx="4372889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Module: Technique de veille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472162" y="297309"/>
            <a:ext cx="2517458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BDIA2 2025-2026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538097" y="1537978"/>
            <a:ext cx="1821293" cy="671958"/>
            <a:chOff x="0" y="0"/>
            <a:chExt cx="2428390" cy="89594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558185" y="0"/>
              <a:ext cx="1870206" cy="895944"/>
            </a:xfrm>
            <a:custGeom>
              <a:avLst/>
              <a:gdLst/>
              <a:ahLst/>
              <a:cxnLst/>
              <a:rect r="r" b="b" t="t" l="l"/>
              <a:pathLst>
                <a:path h="895944" w="1870206">
                  <a:moveTo>
                    <a:pt x="0" y="0"/>
                  </a:moveTo>
                  <a:lnTo>
                    <a:pt x="1870205" y="0"/>
                  </a:lnTo>
                  <a:lnTo>
                    <a:pt x="1870205" y="895944"/>
                  </a:lnTo>
                  <a:lnTo>
                    <a:pt x="0" y="895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46452" y="219691"/>
              <a:ext cx="370639" cy="302998"/>
            </a:xfrm>
            <a:custGeom>
              <a:avLst/>
              <a:gdLst/>
              <a:ahLst/>
              <a:cxnLst/>
              <a:rect r="r" b="b" t="t" l="l"/>
              <a:pathLst>
                <a:path h="302998" w="370639">
                  <a:moveTo>
                    <a:pt x="0" y="0"/>
                  </a:moveTo>
                  <a:lnTo>
                    <a:pt x="370639" y="0"/>
                  </a:lnTo>
                  <a:lnTo>
                    <a:pt x="370639" y="302997"/>
                  </a:lnTo>
                  <a:lnTo>
                    <a:pt x="0" y="3029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0" y="574185"/>
              <a:ext cx="463543" cy="1317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08"/>
                </a:lnSpc>
                <a:spcBef>
                  <a:spcPct val="0"/>
                </a:spcBef>
              </a:pPr>
              <a:r>
                <a:rPr lang="en-US" sz="508" spc="10">
                  <a:solidFill>
                    <a:srgbClr val="5170FF">
                      <a:alpha val="0"/>
                    </a:srgbClr>
                  </a:solidFill>
                  <a:latin typeface="Anton"/>
                  <a:ea typeface="Anton"/>
                  <a:cs typeface="Anton"/>
                  <a:sym typeface="Anton"/>
                </a:rPr>
                <a:t>CHOIX DU LLM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145979" y="1674150"/>
            <a:ext cx="687556" cy="504098"/>
            <a:chOff x="0" y="0"/>
            <a:chExt cx="916741" cy="67213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2575" y="309466"/>
              <a:ext cx="283816" cy="360569"/>
            </a:xfrm>
            <a:custGeom>
              <a:avLst/>
              <a:gdLst/>
              <a:ahLst/>
              <a:cxnLst/>
              <a:rect r="r" b="b" t="t" l="l"/>
              <a:pathLst>
                <a:path h="360569" w="283816">
                  <a:moveTo>
                    <a:pt x="0" y="0"/>
                  </a:moveTo>
                  <a:lnTo>
                    <a:pt x="283816" y="0"/>
                  </a:lnTo>
                  <a:lnTo>
                    <a:pt x="283816" y="360569"/>
                  </a:lnTo>
                  <a:lnTo>
                    <a:pt x="0" y="3605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3521" t="0" r="-13521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234211" y="311561"/>
              <a:ext cx="283816" cy="360569"/>
            </a:xfrm>
            <a:custGeom>
              <a:avLst/>
              <a:gdLst/>
              <a:ahLst/>
              <a:cxnLst/>
              <a:rect r="r" b="b" t="t" l="l"/>
              <a:pathLst>
                <a:path h="360569" w="283816">
                  <a:moveTo>
                    <a:pt x="0" y="0"/>
                  </a:moveTo>
                  <a:lnTo>
                    <a:pt x="283816" y="0"/>
                  </a:lnTo>
                  <a:lnTo>
                    <a:pt x="283816" y="360569"/>
                  </a:lnTo>
                  <a:lnTo>
                    <a:pt x="0" y="3605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3521" t="0" r="-13521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443809" y="311561"/>
              <a:ext cx="283816" cy="360569"/>
            </a:xfrm>
            <a:custGeom>
              <a:avLst/>
              <a:gdLst/>
              <a:ahLst/>
              <a:cxnLst/>
              <a:rect r="r" b="b" t="t" l="l"/>
              <a:pathLst>
                <a:path h="360569" w="283816">
                  <a:moveTo>
                    <a:pt x="0" y="0"/>
                  </a:moveTo>
                  <a:lnTo>
                    <a:pt x="283816" y="0"/>
                  </a:lnTo>
                  <a:lnTo>
                    <a:pt x="283816" y="360569"/>
                  </a:lnTo>
                  <a:lnTo>
                    <a:pt x="0" y="3605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3521" t="0" r="-13521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443809" y="802"/>
              <a:ext cx="283816" cy="360569"/>
            </a:xfrm>
            <a:custGeom>
              <a:avLst/>
              <a:gdLst/>
              <a:ahLst/>
              <a:cxnLst/>
              <a:rect r="r" b="b" t="t" l="l"/>
              <a:pathLst>
                <a:path h="360569" w="283816">
                  <a:moveTo>
                    <a:pt x="0" y="0"/>
                  </a:moveTo>
                  <a:lnTo>
                    <a:pt x="283816" y="0"/>
                  </a:lnTo>
                  <a:lnTo>
                    <a:pt x="283816" y="360569"/>
                  </a:lnTo>
                  <a:lnTo>
                    <a:pt x="0" y="3605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3521" t="0" r="-13521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-127140">
              <a:off x="228003" y="5161"/>
              <a:ext cx="285932" cy="364935"/>
            </a:xfrm>
            <a:custGeom>
              <a:avLst/>
              <a:gdLst/>
              <a:ahLst/>
              <a:cxnLst/>
              <a:rect r="r" b="b" t="t" l="l"/>
              <a:pathLst>
                <a:path h="364935" w="285932">
                  <a:moveTo>
                    <a:pt x="0" y="0"/>
                  </a:moveTo>
                  <a:lnTo>
                    <a:pt x="285932" y="0"/>
                  </a:lnTo>
                  <a:lnTo>
                    <a:pt x="285932" y="364936"/>
                  </a:lnTo>
                  <a:lnTo>
                    <a:pt x="0" y="364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3815" t="0" r="-13815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4073"/>
              <a:ext cx="288966" cy="367112"/>
            </a:xfrm>
            <a:custGeom>
              <a:avLst/>
              <a:gdLst/>
              <a:ahLst/>
              <a:cxnLst/>
              <a:rect r="r" b="b" t="t" l="l"/>
              <a:pathLst>
                <a:path h="367112" w="288966">
                  <a:moveTo>
                    <a:pt x="0" y="0"/>
                  </a:moveTo>
                  <a:lnTo>
                    <a:pt x="288966" y="0"/>
                  </a:lnTo>
                  <a:lnTo>
                    <a:pt x="288966" y="367112"/>
                  </a:lnTo>
                  <a:lnTo>
                    <a:pt x="0" y="3671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3521" t="0" r="-13521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632925" y="311561"/>
              <a:ext cx="283816" cy="360569"/>
            </a:xfrm>
            <a:custGeom>
              <a:avLst/>
              <a:gdLst/>
              <a:ahLst/>
              <a:cxnLst/>
              <a:rect r="r" b="b" t="t" l="l"/>
              <a:pathLst>
                <a:path h="360569" w="283816">
                  <a:moveTo>
                    <a:pt x="0" y="0"/>
                  </a:moveTo>
                  <a:lnTo>
                    <a:pt x="283816" y="0"/>
                  </a:lnTo>
                  <a:lnTo>
                    <a:pt x="283816" y="360569"/>
                  </a:lnTo>
                  <a:lnTo>
                    <a:pt x="0" y="3605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3521" t="0" r="-13521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632925" y="802"/>
              <a:ext cx="283816" cy="360569"/>
            </a:xfrm>
            <a:custGeom>
              <a:avLst/>
              <a:gdLst/>
              <a:ahLst/>
              <a:cxnLst/>
              <a:rect r="r" b="b" t="t" l="l"/>
              <a:pathLst>
                <a:path h="360569" w="283816">
                  <a:moveTo>
                    <a:pt x="0" y="0"/>
                  </a:moveTo>
                  <a:lnTo>
                    <a:pt x="283816" y="0"/>
                  </a:lnTo>
                  <a:lnTo>
                    <a:pt x="283816" y="360569"/>
                  </a:lnTo>
                  <a:lnTo>
                    <a:pt x="0" y="3605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3521" t="0" r="-13521" b="0"/>
              </a:stretch>
            </a:blip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1949359" y="1833025"/>
            <a:ext cx="143348" cy="222677"/>
          </a:xfrm>
          <a:custGeom>
            <a:avLst/>
            <a:gdLst/>
            <a:ahLst/>
            <a:cxnLst/>
            <a:rect r="r" b="b" t="t" l="l"/>
            <a:pathLst>
              <a:path h="222677" w="143348">
                <a:moveTo>
                  <a:pt x="0" y="0"/>
                </a:moveTo>
                <a:lnTo>
                  <a:pt x="143348" y="0"/>
                </a:lnTo>
                <a:lnTo>
                  <a:pt x="143348" y="222677"/>
                </a:lnTo>
                <a:lnTo>
                  <a:pt x="0" y="2226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578214" y="1518928"/>
            <a:ext cx="714279" cy="86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1"/>
              </a:lnSpc>
              <a:spcBef>
                <a:spcPct val="0"/>
              </a:spcBef>
            </a:pPr>
            <a:r>
              <a:rPr lang="en-US" sz="447" spc="8">
                <a:solidFill>
                  <a:srgbClr val="5170FF">
                    <a:alpha val="0"/>
                  </a:srgbClr>
                </a:solidFill>
                <a:latin typeface="Anton"/>
                <a:ea typeface="Anton"/>
                <a:cs typeface="Anton"/>
                <a:sym typeface="Anton"/>
              </a:rPr>
              <a:t>ARCHITECTURE SKILLS VS AGENTS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028700" y="1710491"/>
            <a:ext cx="850445" cy="467745"/>
            <a:chOff x="0" y="0"/>
            <a:chExt cx="1133927" cy="6236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33927" cy="623660"/>
            </a:xfrm>
            <a:custGeom>
              <a:avLst/>
              <a:gdLst/>
              <a:ahLst/>
              <a:cxnLst/>
              <a:rect r="r" b="b" t="t" l="l"/>
              <a:pathLst>
                <a:path h="623660" w="1133927">
                  <a:moveTo>
                    <a:pt x="0" y="0"/>
                  </a:moveTo>
                  <a:lnTo>
                    <a:pt x="1133927" y="0"/>
                  </a:lnTo>
                  <a:lnTo>
                    <a:pt x="1133927" y="623660"/>
                  </a:lnTo>
                  <a:lnTo>
                    <a:pt x="0" y="6236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0" r="0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 rot="0">
              <a:off x="799981" y="505647"/>
              <a:ext cx="299541" cy="794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"/>
                </a:lnSpc>
                <a:spcBef>
                  <a:spcPct val="0"/>
                </a:spcBef>
              </a:pPr>
              <a:r>
                <a:rPr lang="en-US" sz="301" spc="6">
                  <a:solidFill>
                    <a:srgbClr val="051C2C">
                      <a:alpha val="0"/>
                    </a:srgbClr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section swap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42381" y="1483002"/>
            <a:ext cx="1850113" cy="695234"/>
            <a:chOff x="0" y="0"/>
            <a:chExt cx="2466817" cy="92697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818855" y="0"/>
              <a:ext cx="1647962" cy="926978"/>
            </a:xfrm>
            <a:custGeom>
              <a:avLst/>
              <a:gdLst/>
              <a:ahLst/>
              <a:cxnLst/>
              <a:rect r="r" b="b" t="t" l="l"/>
              <a:pathLst>
                <a:path h="926978" w="1647962">
                  <a:moveTo>
                    <a:pt x="0" y="0"/>
                  </a:moveTo>
                  <a:lnTo>
                    <a:pt x="1647962" y="0"/>
                  </a:lnTo>
                  <a:lnTo>
                    <a:pt x="1647962" y="926978"/>
                  </a:lnTo>
                  <a:lnTo>
                    <a:pt x="0" y="9269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alphaModFix amt="0"/>
              </a:blip>
              <a:stretch>
                <a:fillRect l="0" t="0" r="0" b="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44840" y="143959"/>
              <a:ext cx="537826" cy="537826"/>
            </a:xfrm>
            <a:custGeom>
              <a:avLst/>
              <a:gdLst/>
              <a:ahLst/>
              <a:cxnLst/>
              <a:rect r="r" b="b" t="t" l="l"/>
              <a:pathLst>
                <a:path h="537826" w="537826">
                  <a:moveTo>
                    <a:pt x="0" y="0"/>
                  </a:moveTo>
                  <a:lnTo>
                    <a:pt x="537826" y="0"/>
                  </a:lnTo>
                  <a:lnTo>
                    <a:pt x="537826" y="537825"/>
                  </a:lnTo>
                  <a:lnTo>
                    <a:pt x="0" y="537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alphaModFix amt="0"/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 rot="0">
              <a:off x="0" y="760052"/>
              <a:ext cx="668472" cy="620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7"/>
                </a:lnSpc>
                <a:spcBef>
                  <a:spcPct val="0"/>
                </a:spcBef>
              </a:pPr>
              <a:r>
                <a:rPr lang="en-US" sz="306" spc="6">
                  <a:solidFill>
                    <a:srgbClr val="5170FF">
                      <a:alpha val="0"/>
                    </a:srgbClr>
                  </a:solidFill>
                  <a:latin typeface="Anton"/>
                  <a:ea typeface="Anton"/>
                  <a:cs typeface="Anton"/>
                  <a:sym typeface="Anton"/>
                </a:rPr>
                <a:t>CONFIGURATION DES SOUS AGENTS</a:t>
              </a:r>
            </a:p>
          </p:txBody>
        </p:sp>
      </p:grpSp>
    </p:spTree>
  </p:cSld>
  <p:clrMapOvr>
    <a:masterClrMapping/>
  </p:clrMapOvr>
  <p:transition spd="slow">
    <p:fade/>
  </p:transition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35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773373"/>
            <a:ext cx="3359716" cy="2370127"/>
            <a:chOff x="0" y="0"/>
            <a:chExt cx="4479621" cy="31601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79621" cy="3160169"/>
            </a:xfrm>
            <a:custGeom>
              <a:avLst/>
              <a:gdLst/>
              <a:ahLst/>
              <a:cxnLst/>
              <a:rect r="r" b="b" t="t" l="l"/>
              <a:pathLst>
                <a:path h="3160169" w="4479621">
                  <a:moveTo>
                    <a:pt x="0" y="0"/>
                  </a:moveTo>
                  <a:lnTo>
                    <a:pt x="4479621" y="0"/>
                  </a:lnTo>
                  <a:lnTo>
                    <a:pt x="4479621" y="3160169"/>
                  </a:lnTo>
                  <a:lnTo>
                    <a:pt x="0" y="3160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98656" y="650253"/>
              <a:ext cx="3960008" cy="1510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40"/>
                </a:lnSpc>
                <a:spcBef>
                  <a:spcPct val="0"/>
                </a:spcBef>
              </a:pPr>
              <a:r>
                <a:rPr lang="en-US" sz="2981" spc="59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1.Intruduction et vue d’ensemble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869044" y="230261"/>
            <a:ext cx="8501941" cy="1434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733"/>
              </a:lnSpc>
            </a:pPr>
            <a:r>
              <a:rPr lang="en-US" sz="838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SOMMAIRE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090490" y="9548710"/>
            <a:ext cx="4372889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Module: Technique de veille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472162" y="297309"/>
            <a:ext cx="2517458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BDIA2 2025-2026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371175" y="6671974"/>
            <a:ext cx="3359716" cy="2370127"/>
            <a:chOff x="0" y="0"/>
            <a:chExt cx="4479621" cy="31601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79621" cy="3160169"/>
            </a:xfrm>
            <a:custGeom>
              <a:avLst/>
              <a:gdLst/>
              <a:ahLst/>
              <a:cxnLst/>
              <a:rect r="r" b="b" t="t" l="l"/>
              <a:pathLst>
                <a:path h="3160169" w="4479621">
                  <a:moveTo>
                    <a:pt x="0" y="0"/>
                  </a:moveTo>
                  <a:lnTo>
                    <a:pt x="4479621" y="0"/>
                  </a:lnTo>
                  <a:lnTo>
                    <a:pt x="4479621" y="3160169"/>
                  </a:lnTo>
                  <a:lnTo>
                    <a:pt x="0" y="3160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198656" y="650253"/>
              <a:ext cx="3960008" cy="1510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40"/>
                </a:lnSpc>
                <a:spcBef>
                  <a:spcPct val="0"/>
                </a:spcBef>
              </a:pPr>
              <a:r>
                <a:rPr lang="en-US" sz="2981" spc="59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6.Conclusion et perspective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079579" y="6671974"/>
            <a:ext cx="3359716" cy="2370127"/>
            <a:chOff x="0" y="0"/>
            <a:chExt cx="4479621" cy="316016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79621" cy="3160169"/>
            </a:xfrm>
            <a:custGeom>
              <a:avLst/>
              <a:gdLst/>
              <a:ahLst/>
              <a:cxnLst/>
              <a:rect r="r" b="b" t="t" l="l"/>
              <a:pathLst>
                <a:path h="3160169" w="4479621">
                  <a:moveTo>
                    <a:pt x="0" y="0"/>
                  </a:moveTo>
                  <a:lnTo>
                    <a:pt x="4479621" y="0"/>
                  </a:lnTo>
                  <a:lnTo>
                    <a:pt x="4479621" y="3160169"/>
                  </a:lnTo>
                  <a:lnTo>
                    <a:pt x="0" y="3160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259807" y="597042"/>
              <a:ext cx="3960008" cy="1510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40"/>
                </a:lnSpc>
                <a:spcBef>
                  <a:spcPct val="0"/>
                </a:spcBef>
              </a:pPr>
              <a:r>
                <a:rPr lang="en-US" sz="2981" spc="59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5.Tests et Demonstrations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30347" y="6671974"/>
            <a:ext cx="3359716" cy="2370127"/>
            <a:chOff x="0" y="0"/>
            <a:chExt cx="4479621" cy="316016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479621" cy="3160169"/>
            </a:xfrm>
            <a:custGeom>
              <a:avLst/>
              <a:gdLst/>
              <a:ahLst/>
              <a:cxnLst/>
              <a:rect r="r" b="b" t="t" l="l"/>
              <a:pathLst>
                <a:path h="3160169" w="4479621">
                  <a:moveTo>
                    <a:pt x="0" y="0"/>
                  </a:moveTo>
                  <a:lnTo>
                    <a:pt x="4479621" y="0"/>
                  </a:lnTo>
                  <a:lnTo>
                    <a:pt x="4479621" y="3160169"/>
                  </a:lnTo>
                  <a:lnTo>
                    <a:pt x="0" y="3160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198656" y="650253"/>
              <a:ext cx="3960008" cy="1510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40"/>
                </a:lnSpc>
                <a:spcBef>
                  <a:spcPct val="0"/>
                </a:spcBef>
              </a:pPr>
              <a:r>
                <a:rPr lang="en-US" sz="2981" spc="59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4.Conception de l’application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079579" y="2773373"/>
            <a:ext cx="3359716" cy="2370127"/>
            <a:chOff x="0" y="0"/>
            <a:chExt cx="4479621" cy="316016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79621" cy="3160169"/>
            </a:xfrm>
            <a:custGeom>
              <a:avLst/>
              <a:gdLst/>
              <a:ahLst/>
              <a:cxnLst/>
              <a:rect r="r" b="b" t="t" l="l"/>
              <a:pathLst>
                <a:path h="3160169" w="4479621">
                  <a:moveTo>
                    <a:pt x="0" y="0"/>
                  </a:moveTo>
                  <a:lnTo>
                    <a:pt x="4479621" y="0"/>
                  </a:lnTo>
                  <a:lnTo>
                    <a:pt x="4479621" y="3160169"/>
                  </a:lnTo>
                  <a:lnTo>
                    <a:pt x="0" y="3160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198656" y="650253"/>
              <a:ext cx="3960008" cy="1510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40"/>
                </a:lnSpc>
                <a:spcBef>
                  <a:spcPct val="0"/>
                </a:spcBef>
              </a:pPr>
              <a:r>
                <a:rPr lang="en-US" sz="2981" spc="59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2.Architecture globale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371175" y="2773373"/>
            <a:ext cx="3359716" cy="2370127"/>
            <a:chOff x="0" y="0"/>
            <a:chExt cx="4479621" cy="316016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479621" cy="3160169"/>
            </a:xfrm>
            <a:custGeom>
              <a:avLst/>
              <a:gdLst/>
              <a:ahLst/>
              <a:cxnLst/>
              <a:rect r="r" b="b" t="t" l="l"/>
              <a:pathLst>
                <a:path h="3160169" w="4479621">
                  <a:moveTo>
                    <a:pt x="0" y="0"/>
                  </a:moveTo>
                  <a:lnTo>
                    <a:pt x="4479621" y="0"/>
                  </a:lnTo>
                  <a:lnTo>
                    <a:pt x="4479621" y="3160169"/>
                  </a:lnTo>
                  <a:lnTo>
                    <a:pt x="0" y="3160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198656" y="650253"/>
              <a:ext cx="3960008" cy="1510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40"/>
                </a:lnSpc>
                <a:spcBef>
                  <a:spcPct val="0"/>
                </a:spcBef>
              </a:pPr>
              <a:r>
                <a:rPr lang="en-US" sz="2981" spc="59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3.Implementation moteur Agent</a:t>
              </a:r>
            </a:p>
          </p:txBody>
        </p:sp>
      </p:grpSp>
    </p:spTree>
  </p:cSld>
  <p:clrMapOvr>
    <a:masterClrMapping/>
  </p:clrMapOvr>
  <p:transition spd="slow">
    <p:fade/>
  </p:transition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35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090490" y="9548710"/>
            <a:ext cx="4372889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Module: Technique de veille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472162" y="297309"/>
            <a:ext cx="2517458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BDIA2 2025-2026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4232101" y="1817586"/>
            <a:ext cx="10089668" cy="7117802"/>
            <a:chOff x="0" y="0"/>
            <a:chExt cx="13452891" cy="949040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452891" cy="9490403"/>
            </a:xfrm>
            <a:custGeom>
              <a:avLst/>
              <a:gdLst/>
              <a:ahLst/>
              <a:cxnLst/>
              <a:rect r="r" b="b" t="t" l="l"/>
              <a:pathLst>
                <a:path h="9490403" w="13452891">
                  <a:moveTo>
                    <a:pt x="0" y="0"/>
                  </a:moveTo>
                  <a:lnTo>
                    <a:pt x="13452891" y="0"/>
                  </a:lnTo>
                  <a:lnTo>
                    <a:pt x="13452891" y="9490403"/>
                  </a:lnTo>
                  <a:lnTo>
                    <a:pt x="0" y="94904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596591" y="1962679"/>
              <a:ext cx="11892424" cy="45257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236"/>
                </a:lnSpc>
                <a:spcBef>
                  <a:spcPct val="0"/>
                </a:spcBef>
              </a:pPr>
              <a:r>
                <a:rPr lang="en-US" sz="8953" spc="179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4.Conception de l’application</a:t>
              </a:r>
            </a:p>
          </p:txBody>
        </p:sp>
      </p:grpSp>
    </p:spTree>
  </p:cSld>
  <p:clrMapOvr>
    <a:masterClrMapping/>
  </p:clrMapOvr>
  <p:transition spd="slow">
    <p:fade/>
  </p:transition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35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4425" y="-122047"/>
            <a:ext cx="3378087" cy="2383087"/>
            <a:chOff x="0" y="0"/>
            <a:chExt cx="4504116" cy="31774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04116" cy="3177449"/>
            </a:xfrm>
            <a:custGeom>
              <a:avLst/>
              <a:gdLst/>
              <a:ahLst/>
              <a:cxnLst/>
              <a:rect r="r" b="b" t="t" l="l"/>
              <a:pathLst>
                <a:path h="3177449" w="4504116">
                  <a:moveTo>
                    <a:pt x="0" y="0"/>
                  </a:moveTo>
                  <a:lnTo>
                    <a:pt x="4504116" y="0"/>
                  </a:lnTo>
                  <a:lnTo>
                    <a:pt x="4504116" y="3177449"/>
                  </a:lnTo>
                  <a:lnTo>
                    <a:pt x="0" y="31774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99743" y="654434"/>
              <a:ext cx="3981662" cy="15179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66"/>
                </a:lnSpc>
                <a:spcBef>
                  <a:spcPct val="0"/>
                </a:spcBef>
              </a:pPr>
              <a:r>
                <a:rPr lang="en-US" sz="2997" spc="59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4.Conception de l’application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1572320"/>
            <a:ext cx="345465" cy="192740"/>
          </a:xfrm>
          <a:custGeom>
            <a:avLst/>
            <a:gdLst/>
            <a:ahLst/>
            <a:cxnLst/>
            <a:rect r="r" b="b" t="t" l="l"/>
            <a:pathLst>
              <a:path h="192740" w="345465">
                <a:moveTo>
                  <a:pt x="0" y="0"/>
                </a:moveTo>
                <a:lnTo>
                  <a:pt x="345465" y="0"/>
                </a:lnTo>
                <a:lnTo>
                  <a:pt x="345465" y="192741"/>
                </a:lnTo>
                <a:lnTo>
                  <a:pt x="0" y="1927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0"/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090490" y="9548710"/>
            <a:ext cx="4372889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Module: Technique de veille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472162" y="297309"/>
            <a:ext cx="2517458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BDIA2 2025-2026</a:t>
            </a:r>
          </a:p>
        </p:txBody>
      </p:sp>
    </p:spTree>
  </p:cSld>
  <p:clrMapOvr>
    <a:masterClrMapping/>
  </p:clrMapOvr>
  <p:transition spd="slow">
    <p:fade/>
  </p:transition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35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4425" y="-122047"/>
            <a:ext cx="3378087" cy="2383087"/>
            <a:chOff x="0" y="0"/>
            <a:chExt cx="4504116" cy="31774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04116" cy="3177449"/>
            </a:xfrm>
            <a:custGeom>
              <a:avLst/>
              <a:gdLst/>
              <a:ahLst/>
              <a:cxnLst/>
              <a:rect r="r" b="b" t="t" l="l"/>
              <a:pathLst>
                <a:path h="3177449" w="4504116">
                  <a:moveTo>
                    <a:pt x="0" y="0"/>
                  </a:moveTo>
                  <a:lnTo>
                    <a:pt x="4504116" y="0"/>
                  </a:lnTo>
                  <a:lnTo>
                    <a:pt x="4504116" y="3177449"/>
                  </a:lnTo>
                  <a:lnTo>
                    <a:pt x="0" y="31774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99743" y="654434"/>
              <a:ext cx="3981662" cy="15179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66"/>
                </a:lnSpc>
                <a:spcBef>
                  <a:spcPct val="0"/>
                </a:spcBef>
              </a:pPr>
              <a:r>
                <a:rPr lang="en-US" sz="2997" spc="59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4.Conception de l’application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426974" y="1343720"/>
            <a:ext cx="14351817" cy="8007118"/>
          </a:xfrm>
          <a:custGeom>
            <a:avLst/>
            <a:gdLst/>
            <a:ahLst/>
            <a:cxnLst/>
            <a:rect r="r" b="b" t="t" l="l"/>
            <a:pathLst>
              <a:path h="8007118" w="14351817">
                <a:moveTo>
                  <a:pt x="0" y="0"/>
                </a:moveTo>
                <a:lnTo>
                  <a:pt x="14351818" y="0"/>
                </a:lnTo>
                <a:lnTo>
                  <a:pt x="14351818" y="8007118"/>
                </a:lnTo>
                <a:lnTo>
                  <a:pt x="0" y="80071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090490" y="9548710"/>
            <a:ext cx="4372889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Module: Technique de veille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472162" y="297309"/>
            <a:ext cx="2517458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BDIA2 2025-2026</a:t>
            </a:r>
          </a:p>
        </p:txBody>
      </p:sp>
    </p:spTree>
  </p:cSld>
  <p:clrMapOvr>
    <a:masterClrMapping/>
  </p:clrMapOvr>
  <p:transition spd="slow">
    <p:fade/>
  </p:transition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35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4425" y="-122047"/>
            <a:ext cx="3378087" cy="2383087"/>
            <a:chOff x="0" y="0"/>
            <a:chExt cx="4504116" cy="31774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04116" cy="3177449"/>
            </a:xfrm>
            <a:custGeom>
              <a:avLst/>
              <a:gdLst/>
              <a:ahLst/>
              <a:cxnLst/>
              <a:rect r="r" b="b" t="t" l="l"/>
              <a:pathLst>
                <a:path h="3177449" w="4504116">
                  <a:moveTo>
                    <a:pt x="0" y="0"/>
                  </a:moveTo>
                  <a:lnTo>
                    <a:pt x="4504116" y="0"/>
                  </a:lnTo>
                  <a:lnTo>
                    <a:pt x="4504116" y="3177449"/>
                  </a:lnTo>
                  <a:lnTo>
                    <a:pt x="0" y="31774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99743" y="654434"/>
              <a:ext cx="3981662" cy="15179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66"/>
                </a:lnSpc>
                <a:spcBef>
                  <a:spcPct val="0"/>
                </a:spcBef>
              </a:pPr>
              <a:r>
                <a:rPr lang="en-US" sz="2997" spc="59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4.Conception de l’application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1694916"/>
            <a:ext cx="327791" cy="182880"/>
          </a:xfrm>
          <a:custGeom>
            <a:avLst/>
            <a:gdLst/>
            <a:ahLst/>
            <a:cxnLst/>
            <a:rect r="r" b="b" t="t" l="l"/>
            <a:pathLst>
              <a:path h="182880" w="327791">
                <a:moveTo>
                  <a:pt x="0" y="0"/>
                </a:moveTo>
                <a:lnTo>
                  <a:pt x="327791" y="0"/>
                </a:lnTo>
                <a:lnTo>
                  <a:pt x="327791" y="182880"/>
                </a:lnTo>
                <a:lnTo>
                  <a:pt x="0" y="1828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0"/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090490" y="9548710"/>
            <a:ext cx="4372889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Module: Technique de veille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472162" y="297309"/>
            <a:ext cx="2517458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BDIA2 2025-2026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181959" y="1503740"/>
            <a:ext cx="342660" cy="191176"/>
          </a:xfrm>
          <a:custGeom>
            <a:avLst/>
            <a:gdLst/>
            <a:ahLst/>
            <a:cxnLst/>
            <a:rect r="r" b="b" t="t" l="l"/>
            <a:pathLst>
              <a:path h="191176" w="342660">
                <a:moveTo>
                  <a:pt x="0" y="0"/>
                </a:moveTo>
                <a:lnTo>
                  <a:pt x="342660" y="0"/>
                </a:lnTo>
                <a:lnTo>
                  <a:pt x="342660" y="191176"/>
                </a:lnTo>
                <a:lnTo>
                  <a:pt x="0" y="1911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0"/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fade/>
  </p:transition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35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4425" y="-122047"/>
            <a:ext cx="3378087" cy="2383087"/>
            <a:chOff x="0" y="0"/>
            <a:chExt cx="4504116" cy="31774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04116" cy="3177449"/>
            </a:xfrm>
            <a:custGeom>
              <a:avLst/>
              <a:gdLst/>
              <a:ahLst/>
              <a:cxnLst/>
              <a:rect r="r" b="b" t="t" l="l"/>
              <a:pathLst>
                <a:path h="3177449" w="4504116">
                  <a:moveTo>
                    <a:pt x="0" y="0"/>
                  </a:moveTo>
                  <a:lnTo>
                    <a:pt x="4504116" y="0"/>
                  </a:lnTo>
                  <a:lnTo>
                    <a:pt x="4504116" y="3177449"/>
                  </a:lnTo>
                  <a:lnTo>
                    <a:pt x="0" y="31774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99743" y="654434"/>
              <a:ext cx="3981662" cy="15179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66"/>
                </a:lnSpc>
                <a:spcBef>
                  <a:spcPct val="0"/>
                </a:spcBef>
              </a:pPr>
              <a:r>
                <a:rPr lang="en-US" sz="2997" spc="59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4.Conception de l’application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513800" y="1384902"/>
            <a:ext cx="14112140" cy="7873398"/>
          </a:xfrm>
          <a:custGeom>
            <a:avLst/>
            <a:gdLst/>
            <a:ahLst/>
            <a:cxnLst/>
            <a:rect r="r" b="b" t="t" l="l"/>
            <a:pathLst>
              <a:path h="7873398" w="14112140">
                <a:moveTo>
                  <a:pt x="0" y="0"/>
                </a:moveTo>
                <a:lnTo>
                  <a:pt x="14112140" y="0"/>
                </a:lnTo>
                <a:lnTo>
                  <a:pt x="14112140" y="7873398"/>
                </a:lnTo>
                <a:lnTo>
                  <a:pt x="0" y="78733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090490" y="9548710"/>
            <a:ext cx="4372889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Module: Technique de veille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472162" y="297309"/>
            <a:ext cx="2517458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BDIA2 2025-2026</a:t>
            </a:r>
          </a:p>
        </p:txBody>
      </p:sp>
    </p:spTree>
  </p:cSld>
  <p:clrMapOvr>
    <a:masterClrMapping/>
  </p:clrMapOvr>
  <p:transition spd="slow">
    <p:fade/>
  </p:transition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35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4425" y="-122047"/>
            <a:ext cx="3378087" cy="2383087"/>
            <a:chOff x="0" y="0"/>
            <a:chExt cx="4504116" cy="31774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04116" cy="3177449"/>
            </a:xfrm>
            <a:custGeom>
              <a:avLst/>
              <a:gdLst/>
              <a:ahLst/>
              <a:cxnLst/>
              <a:rect r="r" b="b" t="t" l="l"/>
              <a:pathLst>
                <a:path h="3177449" w="4504116">
                  <a:moveTo>
                    <a:pt x="0" y="0"/>
                  </a:moveTo>
                  <a:lnTo>
                    <a:pt x="4504116" y="0"/>
                  </a:lnTo>
                  <a:lnTo>
                    <a:pt x="4504116" y="3177449"/>
                  </a:lnTo>
                  <a:lnTo>
                    <a:pt x="0" y="31774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99743" y="654434"/>
              <a:ext cx="3981662" cy="15179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66"/>
                </a:lnSpc>
                <a:spcBef>
                  <a:spcPct val="0"/>
                </a:spcBef>
              </a:pPr>
              <a:r>
                <a:rPr lang="en-US" sz="2997" spc="59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4.Conception de l’application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52303" y="1503740"/>
            <a:ext cx="327791" cy="182880"/>
          </a:xfrm>
          <a:custGeom>
            <a:avLst/>
            <a:gdLst/>
            <a:ahLst/>
            <a:cxnLst/>
            <a:rect r="r" b="b" t="t" l="l"/>
            <a:pathLst>
              <a:path h="182880" w="327791">
                <a:moveTo>
                  <a:pt x="0" y="0"/>
                </a:moveTo>
                <a:lnTo>
                  <a:pt x="327791" y="0"/>
                </a:lnTo>
                <a:lnTo>
                  <a:pt x="327791" y="182880"/>
                </a:lnTo>
                <a:lnTo>
                  <a:pt x="0" y="1828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0"/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090490" y="9548710"/>
            <a:ext cx="4372889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Module: Technique de veille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472162" y="297309"/>
            <a:ext cx="2517458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BDIA2 2025-2026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353289" y="1595180"/>
            <a:ext cx="342660" cy="191176"/>
          </a:xfrm>
          <a:custGeom>
            <a:avLst/>
            <a:gdLst/>
            <a:ahLst/>
            <a:cxnLst/>
            <a:rect r="r" b="b" t="t" l="l"/>
            <a:pathLst>
              <a:path h="191176" w="342660">
                <a:moveTo>
                  <a:pt x="0" y="0"/>
                </a:moveTo>
                <a:lnTo>
                  <a:pt x="342659" y="0"/>
                </a:lnTo>
                <a:lnTo>
                  <a:pt x="342659" y="191176"/>
                </a:lnTo>
                <a:lnTo>
                  <a:pt x="0" y="1911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0"/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07408" y="1756653"/>
            <a:ext cx="327791" cy="182880"/>
          </a:xfrm>
          <a:custGeom>
            <a:avLst/>
            <a:gdLst/>
            <a:ahLst/>
            <a:cxnLst/>
            <a:rect r="r" b="b" t="t" l="l"/>
            <a:pathLst>
              <a:path h="182880" w="327791">
                <a:moveTo>
                  <a:pt x="0" y="0"/>
                </a:moveTo>
                <a:lnTo>
                  <a:pt x="327791" y="0"/>
                </a:lnTo>
                <a:lnTo>
                  <a:pt x="327791" y="182880"/>
                </a:lnTo>
                <a:lnTo>
                  <a:pt x="0" y="1828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0"/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fade/>
  </p:transition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35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4425" y="-122047"/>
            <a:ext cx="3378087" cy="2383087"/>
            <a:chOff x="0" y="0"/>
            <a:chExt cx="4504116" cy="31774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04116" cy="3177449"/>
            </a:xfrm>
            <a:custGeom>
              <a:avLst/>
              <a:gdLst/>
              <a:ahLst/>
              <a:cxnLst/>
              <a:rect r="r" b="b" t="t" l="l"/>
              <a:pathLst>
                <a:path h="3177449" w="4504116">
                  <a:moveTo>
                    <a:pt x="0" y="0"/>
                  </a:moveTo>
                  <a:lnTo>
                    <a:pt x="4504116" y="0"/>
                  </a:lnTo>
                  <a:lnTo>
                    <a:pt x="4504116" y="3177449"/>
                  </a:lnTo>
                  <a:lnTo>
                    <a:pt x="0" y="31774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99743" y="654434"/>
              <a:ext cx="3981662" cy="15179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66"/>
                </a:lnSpc>
                <a:spcBef>
                  <a:spcPct val="0"/>
                </a:spcBef>
              </a:pPr>
              <a:r>
                <a:rPr lang="en-US" sz="2997" spc="59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4.Conception de l’application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408707" y="1215075"/>
            <a:ext cx="14416534" cy="8043225"/>
          </a:xfrm>
          <a:custGeom>
            <a:avLst/>
            <a:gdLst/>
            <a:ahLst/>
            <a:cxnLst/>
            <a:rect r="r" b="b" t="t" l="l"/>
            <a:pathLst>
              <a:path h="8043225" w="14416534">
                <a:moveTo>
                  <a:pt x="0" y="0"/>
                </a:moveTo>
                <a:lnTo>
                  <a:pt x="14416535" y="0"/>
                </a:lnTo>
                <a:lnTo>
                  <a:pt x="14416535" y="8043225"/>
                </a:lnTo>
                <a:lnTo>
                  <a:pt x="0" y="8043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090490" y="9548710"/>
            <a:ext cx="4372889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Module: Technique de veille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472162" y="297309"/>
            <a:ext cx="2517458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BDIA2 2025-2026</a:t>
            </a:r>
          </a:p>
        </p:txBody>
      </p:sp>
    </p:spTree>
  </p:cSld>
  <p:clrMapOvr>
    <a:masterClrMapping/>
  </p:clrMapOvr>
  <p:transition spd="slow">
    <p:fade/>
  </p:transition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35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4425" y="-122047"/>
            <a:ext cx="3378087" cy="2383087"/>
            <a:chOff x="0" y="0"/>
            <a:chExt cx="4504116" cy="31774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04116" cy="3177449"/>
            </a:xfrm>
            <a:custGeom>
              <a:avLst/>
              <a:gdLst/>
              <a:ahLst/>
              <a:cxnLst/>
              <a:rect r="r" b="b" t="t" l="l"/>
              <a:pathLst>
                <a:path h="3177449" w="4504116">
                  <a:moveTo>
                    <a:pt x="0" y="0"/>
                  </a:moveTo>
                  <a:lnTo>
                    <a:pt x="4504116" y="0"/>
                  </a:lnTo>
                  <a:lnTo>
                    <a:pt x="4504116" y="3177449"/>
                  </a:lnTo>
                  <a:lnTo>
                    <a:pt x="0" y="31774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99743" y="654434"/>
              <a:ext cx="3981662" cy="15179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66"/>
                </a:lnSpc>
                <a:spcBef>
                  <a:spcPct val="0"/>
                </a:spcBef>
              </a:pPr>
              <a:r>
                <a:rPr lang="en-US" sz="2997" spc="59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4.Conception de l’application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52303" y="1503740"/>
            <a:ext cx="944631" cy="527025"/>
          </a:xfrm>
          <a:custGeom>
            <a:avLst/>
            <a:gdLst/>
            <a:ahLst/>
            <a:cxnLst/>
            <a:rect r="r" b="b" t="t" l="l"/>
            <a:pathLst>
              <a:path h="527025" w="944631">
                <a:moveTo>
                  <a:pt x="0" y="0"/>
                </a:moveTo>
                <a:lnTo>
                  <a:pt x="944631" y="0"/>
                </a:lnTo>
                <a:lnTo>
                  <a:pt x="944631" y="527026"/>
                </a:lnTo>
                <a:lnTo>
                  <a:pt x="0" y="5270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0"/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090490" y="9548710"/>
            <a:ext cx="4372889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Module: Technique de veille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472162" y="297309"/>
            <a:ext cx="2517458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BDIA2 2025-2026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345854" y="1671665"/>
            <a:ext cx="342660" cy="191176"/>
          </a:xfrm>
          <a:custGeom>
            <a:avLst/>
            <a:gdLst/>
            <a:ahLst/>
            <a:cxnLst/>
            <a:rect r="r" b="b" t="t" l="l"/>
            <a:pathLst>
              <a:path h="191176" w="342660">
                <a:moveTo>
                  <a:pt x="0" y="0"/>
                </a:moveTo>
                <a:lnTo>
                  <a:pt x="342660" y="0"/>
                </a:lnTo>
                <a:lnTo>
                  <a:pt x="342660" y="191176"/>
                </a:lnTo>
                <a:lnTo>
                  <a:pt x="0" y="1911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0"/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60723" y="1484637"/>
            <a:ext cx="327791" cy="182880"/>
          </a:xfrm>
          <a:custGeom>
            <a:avLst/>
            <a:gdLst/>
            <a:ahLst/>
            <a:cxnLst/>
            <a:rect r="r" b="b" t="t" l="l"/>
            <a:pathLst>
              <a:path h="182880" w="327791">
                <a:moveTo>
                  <a:pt x="0" y="0"/>
                </a:moveTo>
                <a:lnTo>
                  <a:pt x="327791" y="0"/>
                </a:lnTo>
                <a:lnTo>
                  <a:pt x="327791" y="182880"/>
                </a:lnTo>
                <a:lnTo>
                  <a:pt x="0" y="1828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0"/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fade/>
  </p:transition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35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773373"/>
            <a:ext cx="3359716" cy="2370127"/>
            <a:chOff x="0" y="0"/>
            <a:chExt cx="4479621" cy="31601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79621" cy="3160169"/>
            </a:xfrm>
            <a:custGeom>
              <a:avLst/>
              <a:gdLst/>
              <a:ahLst/>
              <a:cxnLst/>
              <a:rect r="r" b="b" t="t" l="l"/>
              <a:pathLst>
                <a:path h="3160169" w="4479621">
                  <a:moveTo>
                    <a:pt x="0" y="0"/>
                  </a:moveTo>
                  <a:lnTo>
                    <a:pt x="4479621" y="0"/>
                  </a:lnTo>
                  <a:lnTo>
                    <a:pt x="4479621" y="3160169"/>
                  </a:lnTo>
                  <a:lnTo>
                    <a:pt x="0" y="3160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98656" y="650253"/>
              <a:ext cx="3960008" cy="1510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40"/>
                </a:lnSpc>
                <a:spcBef>
                  <a:spcPct val="0"/>
                </a:spcBef>
              </a:pPr>
              <a:r>
                <a:rPr lang="en-US" sz="2981" spc="59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1.Intruduction et vue d’ensemble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869044" y="230261"/>
            <a:ext cx="8501941" cy="1434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733"/>
              </a:lnSpc>
            </a:pPr>
            <a:r>
              <a:rPr lang="en-US" sz="838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SOMMAIRE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090490" y="9548710"/>
            <a:ext cx="4372889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Module: Technique de veille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472162" y="297309"/>
            <a:ext cx="2517458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BDIA2 2025-2026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371175" y="6671974"/>
            <a:ext cx="3359716" cy="2370127"/>
            <a:chOff x="0" y="0"/>
            <a:chExt cx="4479621" cy="31601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79621" cy="3160169"/>
            </a:xfrm>
            <a:custGeom>
              <a:avLst/>
              <a:gdLst/>
              <a:ahLst/>
              <a:cxnLst/>
              <a:rect r="r" b="b" t="t" l="l"/>
              <a:pathLst>
                <a:path h="3160169" w="4479621">
                  <a:moveTo>
                    <a:pt x="0" y="0"/>
                  </a:moveTo>
                  <a:lnTo>
                    <a:pt x="4479621" y="0"/>
                  </a:lnTo>
                  <a:lnTo>
                    <a:pt x="4479621" y="3160169"/>
                  </a:lnTo>
                  <a:lnTo>
                    <a:pt x="0" y="3160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198656" y="650253"/>
              <a:ext cx="3960008" cy="1510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40"/>
                </a:lnSpc>
                <a:spcBef>
                  <a:spcPct val="0"/>
                </a:spcBef>
              </a:pPr>
              <a:r>
                <a:rPr lang="en-US" sz="2981" spc="59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6.Conclusion et perspective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079579" y="6671974"/>
            <a:ext cx="3359716" cy="2370127"/>
            <a:chOff x="0" y="0"/>
            <a:chExt cx="4479621" cy="316016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79621" cy="3160169"/>
            </a:xfrm>
            <a:custGeom>
              <a:avLst/>
              <a:gdLst/>
              <a:ahLst/>
              <a:cxnLst/>
              <a:rect r="r" b="b" t="t" l="l"/>
              <a:pathLst>
                <a:path h="3160169" w="4479621">
                  <a:moveTo>
                    <a:pt x="0" y="0"/>
                  </a:moveTo>
                  <a:lnTo>
                    <a:pt x="4479621" y="0"/>
                  </a:lnTo>
                  <a:lnTo>
                    <a:pt x="4479621" y="3160169"/>
                  </a:lnTo>
                  <a:lnTo>
                    <a:pt x="0" y="3160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259807" y="597042"/>
              <a:ext cx="3960008" cy="1510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40"/>
                </a:lnSpc>
                <a:spcBef>
                  <a:spcPct val="0"/>
                </a:spcBef>
              </a:pPr>
              <a:r>
                <a:rPr lang="en-US" sz="2981" spc="59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5.Tests et Demonstrations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30347" y="6671974"/>
            <a:ext cx="3359716" cy="2370127"/>
            <a:chOff x="0" y="0"/>
            <a:chExt cx="4479621" cy="316016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479621" cy="3160169"/>
            </a:xfrm>
            <a:custGeom>
              <a:avLst/>
              <a:gdLst/>
              <a:ahLst/>
              <a:cxnLst/>
              <a:rect r="r" b="b" t="t" l="l"/>
              <a:pathLst>
                <a:path h="3160169" w="4479621">
                  <a:moveTo>
                    <a:pt x="0" y="0"/>
                  </a:moveTo>
                  <a:lnTo>
                    <a:pt x="4479621" y="0"/>
                  </a:lnTo>
                  <a:lnTo>
                    <a:pt x="4479621" y="3160169"/>
                  </a:lnTo>
                  <a:lnTo>
                    <a:pt x="0" y="3160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198656" y="650253"/>
              <a:ext cx="3960008" cy="1510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40"/>
                </a:lnSpc>
                <a:spcBef>
                  <a:spcPct val="0"/>
                </a:spcBef>
              </a:pPr>
              <a:r>
                <a:rPr lang="en-US" sz="2981" spc="59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4.Conception de l’application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079579" y="2773373"/>
            <a:ext cx="3359716" cy="2370127"/>
            <a:chOff x="0" y="0"/>
            <a:chExt cx="4479621" cy="316016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79621" cy="3160169"/>
            </a:xfrm>
            <a:custGeom>
              <a:avLst/>
              <a:gdLst/>
              <a:ahLst/>
              <a:cxnLst/>
              <a:rect r="r" b="b" t="t" l="l"/>
              <a:pathLst>
                <a:path h="3160169" w="4479621">
                  <a:moveTo>
                    <a:pt x="0" y="0"/>
                  </a:moveTo>
                  <a:lnTo>
                    <a:pt x="4479621" y="0"/>
                  </a:lnTo>
                  <a:lnTo>
                    <a:pt x="4479621" y="3160169"/>
                  </a:lnTo>
                  <a:lnTo>
                    <a:pt x="0" y="3160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198656" y="650253"/>
              <a:ext cx="3960008" cy="1510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40"/>
                </a:lnSpc>
                <a:spcBef>
                  <a:spcPct val="0"/>
                </a:spcBef>
              </a:pPr>
              <a:r>
                <a:rPr lang="en-US" sz="2981" spc="59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2.Architecture globale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371175" y="2773373"/>
            <a:ext cx="3359716" cy="2370127"/>
            <a:chOff x="0" y="0"/>
            <a:chExt cx="4479621" cy="316016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479621" cy="3160169"/>
            </a:xfrm>
            <a:custGeom>
              <a:avLst/>
              <a:gdLst/>
              <a:ahLst/>
              <a:cxnLst/>
              <a:rect r="r" b="b" t="t" l="l"/>
              <a:pathLst>
                <a:path h="3160169" w="4479621">
                  <a:moveTo>
                    <a:pt x="0" y="0"/>
                  </a:moveTo>
                  <a:lnTo>
                    <a:pt x="4479621" y="0"/>
                  </a:lnTo>
                  <a:lnTo>
                    <a:pt x="4479621" y="3160169"/>
                  </a:lnTo>
                  <a:lnTo>
                    <a:pt x="0" y="3160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198656" y="650253"/>
              <a:ext cx="3960008" cy="1510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40"/>
                </a:lnSpc>
                <a:spcBef>
                  <a:spcPct val="0"/>
                </a:spcBef>
              </a:pPr>
              <a:r>
                <a:rPr lang="en-US" sz="2981" spc="59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3.Implementation moteur Agent</a:t>
              </a:r>
            </a:p>
          </p:txBody>
        </p:sp>
      </p:grpSp>
    </p:spTree>
  </p:cSld>
  <p:clrMapOvr>
    <a:masterClrMapping/>
  </p:clrMapOvr>
  <p:transition spd="slow">
    <p:fade/>
  </p:transition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35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090490" y="9548710"/>
            <a:ext cx="4372889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Module: Technique de veille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472162" y="297309"/>
            <a:ext cx="2517458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BDIA2 2025-2026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4115062" y="1595813"/>
            <a:ext cx="10057875" cy="7095374"/>
            <a:chOff x="0" y="0"/>
            <a:chExt cx="13410501" cy="946049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410501" cy="9460499"/>
            </a:xfrm>
            <a:custGeom>
              <a:avLst/>
              <a:gdLst/>
              <a:ahLst/>
              <a:cxnLst/>
              <a:rect r="r" b="b" t="t" l="l"/>
              <a:pathLst>
                <a:path h="9460499" w="13410501">
                  <a:moveTo>
                    <a:pt x="0" y="0"/>
                  </a:moveTo>
                  <a:lnTo>
                    <a:pt x="13410501" y="0"/>
                  </a:lnTo>
                  <a:lnTo>
                    <a:pt x="13410501" y="9460499"/>
                  </a:lnTo>
                  <a:lnTo>
                    <a:pt x="0" y="94604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777775" y="1796146"/>
              <a:ext cx="11854951" cy="45125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191"/>
                </a:lnSpc>
                <a:spcBef>
                  <a:spcPct val="0"/>
                </a:spcBef>
              </a:pPr>
              <a:r>
                <a:rPr lang="en-US" sz="8925" spc="178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5.Tests et Demonstrations</a:t>
              </a:r>
            </a:p>
          </p:txBody>
        </p:sp>
      </p:grpSp>
    </p:spTree>
  </p:cSld>
  <p:clrMapOvr>
    <a:masterClrMapping/>
  </p:clrMapOvr>
  <p:transition spd="slow">
    <p:fade/>
  </p:transition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35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773373"/>
            <a:ext cx="3359716" cy="2370127"/>
            <a:chOff x="0" y="0"/>
            <a:chExt cx="4479621" cy="31601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79621" cy="3160169"/>
            </a:xfrm>
            <a:custGeom>
              <a:avLst/>
              <a:gdLst/>
              <a:ahLst/>
              <a:cxnLst/>
              <a:rect r="r" b="b" t="t" l="l"/>
              <a:pathLst>
                <a:path h="3160169" w="4479621">
                  <a:moveTo>
                    <a:pt x="0" y="0"/>
                  </a:moveTo>
                  <a:lnTo>
                    <a:pt x="4479621" y="0"/>
                  </a:lnTo>
                  <a:lnTo>
                    <a:pt x="4479621" y="3160169"/>
                  </a:lnTo>
                  <a:lnTo>
                    <a:pt x="0" y="3160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98656" y="650253"/>
              <a:ext cx="3960008" cy="1510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40"/>
                </a:lnSpc>
                <a:spcBef>
                  <a:spcPct val="0"/>
                </a:spcBef>
              </a:pPr>
              <a:r>
                <a:rPr lang="en-US" sz="2981" spc="59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1.Intruduction et vue d’ensemble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869044" y="230261"/>
            <a:ext cx="8501941" cy="1434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733"/>
              </a:lnSpc>
            </a:pPr>
            <a:r>
              <a:rPr lang="en-US" sz="838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SOMMAIRE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090490" y="9548710"/>
            <a:ext cx="4372889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Module: Technique de veille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472162" y="297309"/>
            <a:ext cx="2517458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BDIA2 2025-2026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371175" y="6671974"/>
            <a:ext cx="3359716" cy="2370127"/>
            <a:chOff x="0" y="0"/>
            <a:chExt cx="4479621" cy="31601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79621" cy="3160169"/>
            </a:xfrm>
            <a:custGeom>
              <a:avLst/>
              <a:gdLst/>
              <a:ahLst/>
              <a:cxnLst/>
              <a:rect r="r" b="b" t="t" l="l"/>
              <a:pathLst>
                <a:path h="3160169" w="4479621">
                  <a:moveTo>
                    <a:pt x="0" y="0"/>
                  </a:moveTo>
                  <a:lnTo>
                    <a:pt x="4479621" y="0"/>
                  </a:lnTo>
                  <a:lnTo>
                    <a:pt x="4479621" y="3160169"/>
                  </a:lnTo>
                  <a:lnTo>
                    <a:pt x="0" y="3160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198656" y="650253"/>
              <a:ext cx="3960008" cy="1510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40"/>
                </a:lnSpc>
                <a:spcBef>
                  <a:spcPct val="0"/>
                </a:spcBef>
              </a:pPr>
              <a:r>
                <a:rPr lang="en-US" sz="2981" spc="59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6.Conclusion et perspective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079579" y="6671974"/>
            <a:ext cx="3359716" cy="2370127"/>
            <a:chOff x="0" y="0"/>
            <a:chExt cx="4479621" cy="316016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79621" cy="3160169"/>
            </a:xfrm>
            <a:custGeom>
              <a:avLst/>
              <a:gdLst/>
              <a:ahLst/>
              <a:cxnLst/>
              <a:rect r="r" b="b" t="t" l="l"/>
              <a:pathLst>
                <a:path h="3160169" w="4479621">
                  <a:moveTo>
                    <a:pt x="0" y="0"/>
                  </a:moveTo>
                  <a:lnTo>
                    <a:pt x="4479621" y="0"/>
                  </a:lnTo>
                  <a:lnTo>
                    <a:pt x="4479621" y="3160169"/>
                  </a:lnTo>
                  <a:lnTo>
                    <a:pt x="0" y="3160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259807" y="597042"/>
              <a:ext cx="3960008" cy="1510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40"/>
                </a:lnSpc>
                <a:spcBef>
                  <a:spcPct val="0"/>
                </a:spcBef>
              </a:pPr>
              <a:r>
                <a:rPr lang="en-US" sz="2981" spc="59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5.Tests et Demonstrations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30347" y="6671974"/>
            <a:ext cx="3359716" cy="2370127"/>
            <a:chOff x="0" y="0"/>
            <a:chExt cx="4479621" cy="316016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479621" cy="3160169"/>
            </a:xfrm>
            <a:custGeom>
              <a:avLst/>
              <a:gdLst/>
              <a:ahLst/>
              <a:cxnLst/>
              <a:rect r="r" b="b" t="t" l="l"/>
              <a:pathLst>
                <a:path h="3160169" w="4479621">
                  <a:moveTo>
                    <a:pt x="0" y="0"/>
                  </a:moveTo>
                  <a:lnTo>
                    <a:pt x="4479621" y="0"/>
                  </a:lnTo>
                  <a:lnTo>
                    <a:pt x="4479621" y="3160169"/>
                  </a:lnTo>
                  <a:lnTo>
                    <a:pt x="0" y="3160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198656" y="650253"/>
              <a:ext cx="3960008" cy="1510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40"/>
                </a:lnSpc>
                <a:spcBef>
                  <a:spcPct val="0"/>
                </a:spcBef>
              </a:pPr>
              <a:r>
                <a:rPr lang="en-US" sz="2981" spc="59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4.Conception de l’application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079579" y="2773373"/>
            <a:ext cx="3359716" cy="2370127"/>
            <a:chOff x="0" y="0"/>
            <a:chExt cx="4479621" cy="316016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79621" cy="3160169"/>
            </a:xfrm>
            <a:custGeom>
              <a:avLst/>
              <a:gdLst/>
              <a:ahLst/>
              <a:cxnLst/>
              <a:rect r="r" b="b" t="t" l="l"/>
              <a:pathLst>
                <a:path h="3160169" w="4479621">
                  <a:moveTo>
                    <a:pt x="0" y="0"/>
                  </a:moveTo>
                  <a:lnTo>
                    <a:pt x="4479621" y="0"/>
                  </a:lnTo>
                  <a:lnTo>
                    <a:pt x="4479621" y="3160169"/>
                  </a:lnTo>
                  <a:lnTo>
                    <a:pt x="0" y="3160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198656" y="650253"/>
              <a:ext cx="3960008" cy="1510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40"/>
                </a:lnSpc>
                <a:spcBef>
                  <a:spcPct val="0"/>
                </a:spcBef>
              </a:pPr>
              <a:r>
                <a:rPr lang="en-US" sz="2981" spc="59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2.Architecture globale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371175" y="2773373"/>
            <a:ext cx="3359716" cy="2370127"/>
            <a:chOff x="0" y="0"/>
            <a:chExt cx="4479621" cy="316016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479621" cy="3160169"/>
            </a:xfrm>
            <a:custGeom>
              <a:avLst/>
              <a:gdLst/>
              <a:ahLst/>
              <a:cxnLst/>
              <a:rect r="r" b="b" t="t" l="l"/>
              <a:pathLst>
                <a:path h="3160169" w="4479621">
                  <a:moveTo>
                    <a:pt x="0" y="0"/>
                  </a:moveTo>
                  <a:lnTo>
                    <a:pt x="4479621" y="0"/>
                  </a:lnTo>
                  <a:lnTo>
                    <a:pt x="4479621" y="3160169"/>
                  </a:lnTo>
                  <a:lnTo>
                    <a:pt x="0" y="3160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198656" y="650253"/>
              <a:ext cx="3960008" cy="1510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40"/>
                </a:lnSpc>
                <a:spcBef>
                  <a:spcPct val="0"/>
                </a:spcBef>
              </a:pPr>
              <a:r>
                <a:rPr lang="en-US" sz="2981" spc="59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3.Implementation moteur Agent</a:t>
              </a:r>
            </a:p>
          </p:txBody>
        </p:sp>
      </p:grpSp>
    </p:spTree>
  </p:cSld>
  <p:clrMapOvr>
    <a:masterClrMapping/>
  </p:clrMapOvr>
  <p:transition spd="slow">
    <p:fade/>
  </p:transition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35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090490" y="9548710"/>
            <a:ext cx="4372889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Module: Technique de veille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472162" y="297309"/>
            <a:ext cx="2517458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BDIA2 2025-2026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3880091" y="1577169"/>
            <a:ext cx="10110732" cy="7132662"/>
            <a:chOff x="0" y="0"/>
            <a:chExt cx="13480975" cy="95102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480975" cy="9510215"/>
            </a:xfrm>
            <a:custGeom>
              <a:avLst/>
              <a:gdLst/>
              <a:ahLst/>
              <a:cxnLst/>
              <a:rect r="r" b="b" t="t" l="l"/>
              <a:pathLst>
                <a:path h="9510215" w="13480975">
                  <a:moveTo>
                    <a:pt x="0" y="0"/>
                  </a:moveTo>
                  <a:lnTo>
                    <a:pt x="13480975" y="0"/>
                  </a:lnTo>
                  <a:lnTo>
                    <a:pt x="13480975" y="9510215"/>
                  </a:lnTo>
                  <a:lnTo>
                    <a:pt x="0" y="95102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597836" y="1967472"/>
              <a:ext cx="11917251" cy="45345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265"/>
                </a:lnSpc>
                <a:spcBef>
                  <a:spcPct val="0"/>
                </a:spcBef>
              </a:pPr>
              <a:r>
                <a:rPr lang="en-US" sz="8972" spc="179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6.Conclusion et perspective</a:t>
              </a:r>
            </a:p>
          </p:txBody>
        </p:sp>
      </p:grpSp>
    </p:spTree>
  </p:cSld>
  <p:clrMapOvr>
    <a:masterClrMapping/>
  </p:clrMapOvr>
  <p:transition spd="slow">
    <p:fade/>
  </p:transition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35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3614" y="-156110"/>
            <a:ext cx="3358997" cy="2369620"/>
            <a:chOff x="0" y="0"/>
            <a:chExt cx="4478662" cy="31594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78662" cy="3159493"/>
            </a:xfrm>
            <a:custGeom>
              <a:avLst/>
              <a:gdLst/>
              <a:ahLst/>
              <a:cxnLst/>
              <a:rect r="r" b="b" t="t" l="l"/>
              <a:pathLst>
                <a:path h="3159493" w="4478662">
                  <a:moveTo>
                    <a:pt x="0" y="0"/>
                  </a:moveTo>
                  <a:lnTo>
                    <a:pt x="4478662" y="0"/>
                  </a:lnTo>
                  <a:lnTo>
                    <a:pt x="4478662" y="3159493"/>
                  </a:lnTo>
                  <a:lnTo>
                    <a:pt x="0" y="31594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98614" y="650090"/>
              <a:ext cx="3959161" cy="15100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39"/>
                </a:lnSpc>
                <a:spcBef>
                  <a:spcPct val="0"/>
                </a:spcBef>
              </a:pPr>
              <a:r>
                <a:rPr lang="en-US" sz="2980" spc="59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6.Conclusion et perspective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090490" y="9548710"/>
            <a:ext cx="4372889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Module: Technique de veille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472162" y="297309"/>
            <a:ext cx="2517458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BDIA2 2025-2026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62557" y="1388812"/>
            <a:ext cx="2126654" cy="685800"/>
            <a:chOff x="0" y="0"/>
            <a:chExt cx="2835538" cy="914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147757"/>
              <a:ext cx="554235" cy="554235"/>
            </a:xfrm>
            <a:custGeom>
              <a:avLst/>
              <a:gdLst/>
              <a:ahLst/>
              <a:cxnLst/>
              <a:rect r="r" b="b" t="t" l="l"/>
              <a:pathLst>
                <a:path h="554235" w="554235">
                  <a:moveTo>
                    <a:pt x="0" y="0"/>
                  </a:moveTo>
                  <a:lnTo>
                    <a:pt x="554235" y="0"/>
                  </a:lnTo>
                  <a:lnTo>
                    <a:pt x="554235" y="554235"/>
                  </a:lnTo>
                  <a:lnTo>
                    <a:pt x="0" y="5542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704196" y="-19050"/>
              <a:ext cx="2026378" cy="3145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1"/>
                </a:lnSpc>
                <a:spcBef>
                  <a:spcPct val="0"/>
                </a:spcBef>
              </a:pPr>
              <a:r>
                <a:rPr lang="en-US" sz="403" spc="8">
                  <a:solidFill>
                    <a:srgbClr val="FFFFFF">
                      <a:alpha val="0"/>
                    </a:srgbClr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RADAR répond à la question posée par le module M244 : comment transformer </a:t>
              </a:r>
              <a:r>
                <a:rPr lang="en-US" sz="403" spc="8">
                  <a:solidFill>
                    <a:srgbClr val="FFFFFF">
                      <a:alpha val="0"/>
                    </a:srgbClr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la méthodologie de veille strategique en un produit opérationnel </a:t>
              </a:r>
              <a:r>
                <a:rPr lang="en-US" sz="403" spc="8">
                  <a:solidFill>
                    <a:srgbClr val="FFFFFF">
                      <a:alpha val="0"/>
                    </a:srgbClr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Qui</a:t>
              </a:r>
              <a:r>
                <a:rPr lang="en-US" sz="403" spc="8">
                  <a:solidFill>
                    <a:srgbClr val="FFFFFF">
                      <a:alpha val="0"/>
                    </a:srgbClr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automatise le cycle de bout en bout ? 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704196" y="385053"/>
              <a:ext cx="2131342" cy="5293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1"/>
                </a:lnSpc>
              </a:pPr>
              <a:r>
                <a:rPr lang="en-US" sz="403" spc="8">
                  <a:solidFill>
                    <a:srgbClr val="FFFFFF">
                      <a:alpha val="0"/>
                    </a:srgbClr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La réponse que nous avons construite</a:t>
              </a:r>
              <a:r>
                <a:rPr lang="en-US" sz="403" spc="8">
                  <a:solidFill>
                    <a:srgbClr val="FFFFFF">
                      <a:alpha val="0"/>
                    </a:srgbClr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n’est pas qu’une démonstration academique, c’est un logiciel déployable qui collecte, evalue, analyse et synthetise quotidiennement des informations concurrentielles pour une entreprise donnée</a:t>
              </a:r>
            </a:p>
            <a:p>
              <a:pPr algn="l">
                <a:lnSpc>
                  <a:spcPts val="641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  <p:transition spd="slow">
    <p:fade/>
  </p:transition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35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3614" y="-156110"/>
            <a:ext cx="3358997" cy="2369620"/>
            <a:chOff x="0" y="0"/>
            <a:chExt cx="4478662" cy="31594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78662" cy="3159493"/>
            </a:xfrm>
            <a:custGeom>
              <a:avLst/>
              <a:gdLst/>
              <a:ahLst/>
              <a:cxnLst/>
              <a:rect r="r" b="b" t="t" l="l"/>
              <a:pathLst>
                <a:path h="3159493" w="4478662">
                  <a:moveTo>
                    <a:pt x="0" y="0"/>
                  </a:moveTo>
                  <a:lnTo>
                    <a:pt x="4478662" y="0"/>
                  </a:lnTo>
                  <a:lnTo>
                    <a:pt x="4478662" y="3159493"/>
                  </a:lnTo>
                  <a:lnTo>
                    <a:pt x="0" y="31594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98614" y="650090"/>
              <a:ext cx="3959161" cy="15100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39"/>
                </a:lnSpc>
                <a:spcBef>
                  <a:spcPct val="0"/>
                </a:spcBef>
              </a:pPr>
              <a:r>
                <a:rPr lang="en-US" sz="2980" spc="59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6.Conclusion et perspective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090490" y="9548710"/>
            <a:ext cx="4372889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Module: Technique de veille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472162" y="297309"/>
            <a:ext cx="2517458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BDIA2 2025-2026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576" y="3034732"/>
            <a:ext cx="17978043" cy="5797531"/>
            <a:chOff x="0" y="0"/>
            <a:chExt cx="23970724" cy="773004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1249091"/>
              <a:ext cx="4685320" cy="4685320"/>
            </a:xfrm>
            <a:custGeom>
              <a:avLst/>
              <a:gdLst/>
              <a:ahLst/>
              <a:cxnLst/>
              <a:rect r="r" b="b" t="t" l="l"/>
              <a:pathLst>
                <a:path h="4685320" w="4685320">
                  <a:moveTo>
                    <a:pt x="0" y="0"/>
                  </a:moveTo>
                  <a:lnTo>
                    <a:pt x="4685320" y="0"/>
                  </a:lnTo>
                  <a:lnTo>
                    <a:pt x="4685320" y="4685320"/>
                  </a:lnTo>
                  <a:lnTo>
                    <a:pt x="0" y="4685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5953048" y="-133350"/>
              <a:ext cx="17130340" cy="26315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426"/>
                </a:lnSpc>
                <a:spcBef>
                  <a:spcPct val="0"/>
                </a:spcBef>
              </a:pPr>
              <a:r>
                <a:rPr lang="en-US" sz="3412" spc="68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RADAR répond à la question posée par le module M244 : comment transformer </a:t>
              </a:r>
              <a:r>
                <a:rPr lang="en-US" sz="3412" spc="68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la méthodologie de veille strategique en un produit opérationnel </a:t>
              </a:r>
              <a:r>
                <a:rPr lang="en-US" sz="3412" spc="68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Qui</a:t>
              </a:r>
              <a:r>
                <a:rPr lang="en-US" sz="3412" spc="68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automatise le cycle de bout en bout ? 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5953048" y="3282804"/>
              <a:ext cx="18017676" cy="44472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426"/>
                </a:lnSpc>
              </a:pPr>
              <a:r>
                <a:rPr lang="en-US" sz="3412" spc="68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La réponse que nous avons construite</a:t>
              </a:r>
              <a:r>
                <a:rPr lang="en-US" sz="3412" spc="68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n’est pas qu’une démonstration academique, c’est un logiciel déployable qui collecte, evalue, analyse et synthetise quotidiennement des informations concurrentielles pour une entreprise donnée</a:t>
              </a:r>
            </a:p>
            <a:p>
              <a:pPr algn="l">
                <a:lnSpc>
                  <a:spcPts val="5426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  <p:transition spd="slow">
    <p:fade/>
  </p:transition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35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773373"/>
            <a:ext cx="3359716" cy="2370127"/>
            <a:chOff x="0" y="0"/>
            <a:chExt cx="4479621" cy="31601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79621" cy="3160169"/>
            </a:xfrm>
            <a:custGeom>
              <a:avLst/>
              <a:gdLst/>
              <a:ahLst/>
              <a:cxnLst/>
              <a:rect r="r" b="b" t="t" l="l"/>
              <a:pathLst>
                <a:path h="3160169" w="4479621">
                  <a:moveTo>
                    <a:pt x="0" y="0"/>
                  </a:moveTo>
                  <a:lnTo>
                    <a:pt x="4479621" y="0"/>
                  </a:lnTo>
                  <a:lnTo>
                    <a:pt x="4479621" y="3160169"/>
                  </a:lnTo>
                  <a:lnTo>
                    <a:pt x="0" y="3160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98656" y="650253"/>
              <a:ext cx="3960008" cy="1510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40"/>
                </a:lnSpc>
                <a:spcBef>
                  <a:spcPct val="0"/>
                </a:spcBef>
              </a:pPr>
              <a:r>
                <a:rPr lang="en-US" sz="2981" spc="59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1.Intruduction et vue d’ensemble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869044" y="230261"/>
            <a:ext cx="8501941" cy="1434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733"/>
              </a:lnSpc>
            </a:pPr>
            <a:r>
              <a:rPr lang="en-US" sz="838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SOMMAIRE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090490" y="9548710"/>
            <a:ext cx="4372889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Module: Technique de veille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472162" y="297309"/>
            <a:ext cx="2517458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BDIA2 2025-2026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371175" y="6671974"/>
            <a:ext cx="3359716" cy="2370127"/>
            <a:chOff x="0" y="0"/>
            <a:chExt cx="4479621" cy="31601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79621" cy="3160169"/>
            </a:xfrm>
            <a:custGeom>
              <a:avLst/>
              <a:gdLst/>
              <a:ahLst/>
              <a:cxnLst/>
              <a:rect r="r" b="b" t="t" l="l"/>
              <a:pathLst>
                <a:path h="3160169" w="4479621">
                  <a:moveTo>
                    <a:pt x="0" y="0"/>
                  </a:moveTo>
                  <a:lnTo>
                    <a:pt x="4479621" y="0"/>
                  </a:lnTo>
                  <a:lnTo>
                    <a:pt x="4479621" y="3160169"/>
                  </a:lnTo>
                  <a:lnTo>
                    <a:pt x="0" y="3160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198656" y="650253"/>
              <a:ext cx="3960008" cy="1510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40"/>
                </a:lnSpc>
                <a:spcBef>
                  <a:spcPct val="0"/>
                </a:spcBef>
              </a:pPr>
              <a:r>
                <a:rPr lang="en-US" sz="2981" spc="59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6.Conclusion et perspective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079579" y="6671974"/>
            <a:ext cx="3359716" cy="2370127"/>
            <a:chOff x="0" y="0"/>
            <a:chExt cx="4479621" cy="316016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79621" cy="3160169"/>
            </a:xfrm>
            <a:custGeom>
              <a:avLst/>
              <a:gdLst/>
              <a:ahLst/>
              <a:cxnLst/>
              <a:rect r="r" b="b" t="t" l="l"/>
              <a:pathLst>
                <a:path h="3160169" w="4479621">
                  <a:moveTo>
                    <a:pt x="0" y="0"/>
                  </a:moveTo>
                  <a:lnTo>
                    <a:pt x="4479621" y="0"/>
                  </a:lnTo>
                  <a:lnTo>
                    <a:pt x="4479621" y="3160169"/>
                  </a:lnTo>
                  <a:lnTo>
                    <a:pt x="0" y="3160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259807" y="597042"/>
              <a:ext cx="3960008" cy="1510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40"/>
                </a:lnSpc>
                <a:spcBef>
                  <a:spcPct val="0"/>
                </a:spcBef>
              </a:pPr>
              <a:r>
                <a:rPr lang="en-US" sz="2981" spc="59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5.Tests et Demonstrations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30347" y="6671974"/>
            <a:ext cx="3359716" cy="2370127"/>
            <a:chOff x="0" y="0"/>
            <a:chExt cx="4479621" cy="316016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479621" cy="3160169"/>
            </a:xfrm>
            <a:custGeom>
              <a:avLst/>
              <a:gdLst/>
              <a:ahLst/>
              <a:cxnLst/>
              <a:rect r="r" b="b" t="t" l="l"/>
              <a:pathLst>
                <a:path h="3160169" w="4479621">
                  <a:moveTo>
                    <a:pt x="0" y="0"/>
                  </a:moveTo>
                  <a:lnTo>
                    <a:pt x="4479621" y="0"/>
                  </a:lnTo>
                  <a:lnTo>
                    <a:pt x="4479621" y="3160169"/>
                  </a:lnTo>
                  <a:lnTo>
                    <a:pt x="0" y="3160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198656" y="650253"/>
              <a:ext cx="3960008" cy="1510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40"/>
                </a:lnSpc>
                <a:spcBef>
                  <a:spcPct val="0"/>
                </a:spcBef>
              </a:pPr>
              <a:r>
                <a:rPr lang="en-US" sz="2981" spc="59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4.Conception de l’application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079579" y="2773373"/>
            <a:ext cx="3359716" cy="2370127"/>
            <a:chOff x="0" y="0"/>
            <a:chExt cx="4479621" cy="316016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79621" cy="3160169"/>
            </a:xfrm>
            <a:custGeom>
              <a:avLst/>
              <a:gdLst/>
              <a:ahLst/>
              <a:cxnLst/>
              <a:rect r="r" b="b" t="t" l="l"/>
              <a:pathLst>
                <a:path h="3160169" w="4479621">
                  <a:moveTo>
                    <a:pt x="0" y="0"/>
                  </a:moveTo>
                  <a:lnTo>
                    <a:pt x="4479621" y="0"/>
                  </a:lnTo>
                  <a:lnTo>
                    <a:pt x="4479621" y="3160169"/>
                  </a:lnTo>
                  <a:lnTo>
                    <a:pt x="0" y="3160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198656" y="650253"/>
              <a:ext cx="3960008" cy="1510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40"/>
                </a:lnSpc>
                <a:spcBef>
                  <a:spcPct val="0"/>
                </a:spcBef>
              </a:pPr>
              <a:r>
                <a:rPr lang="en-US" sz="2981" spc="59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2.Architecture globale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371175" y="2773373"/>
            <a:ext cx="3359716" cy="2370127"/>
            <a:chOff x="0" y="0"/>
            <a:chExt cx="4479621" cy="316016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479621" cy="3160169"/>
            </a:xfrm>
            <a:custGeom>
              <a:avLst/>
              <a:gdLst/>
              <a:ahLst/>
              <a:cxnLst/>
              <a:rect r="r" b="b" t="t" l="l"/>
              <a:pathLst>
                <a:path h="3160169" w="4479621">
                  <a:moveTo>
                    <a:pt x="0" y="0"/>
                  </a:moveTo>
                  <a:lnTo>
                    <a:pt x="4479621" y="0"/>
                  </a:lnTo>
                  <a:lnTo>
                    <a:pt x="4479621" y="3160169"/>
                  </a:lnTo>
                  <a:lnTo>
                    <a:pt x="0" y="3160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198656" y="650253"/>
              <a:ext cx="3960008" cy="1510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40"/>
                </a:lnSpc>
                <a:spcBef>
                  <a:spcPct val="0"/>
                </a:spcBef>
              </a:pPr>
              <a:r>
                <a:rPr lang="en-US" sz="2981" spc="59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3.Implementation moteur Agent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817370" y="8246441"/>
            <a:ext cx="2467326" cy="795659"/>
            <a:chOff x="0" y="0"/>
            <a:chExt cx="3289768" cy="106087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171427"/>
              <a:ext cx="643018" cy="643018"/>
            </a:xfrm>
            <a:custGeom>
              <a:avLst/>
              <a:gdLst/>
              <a:ahLst/>
              <a:cxnLst/>
              <a:rect r="r" b="b" t="t" l="l"/>
              <a:pathLst>
                <a:path h="643018" w="643018">
                  <a:moveTo>
                    <a:pt x="0" y="0"/>
                  </a:moveTo>
                  <a:lnTo>
                    <a:pt x="643018" y="0"/>
                  </a:lnTo>
                  <a:lnTo>
                    <a:pt x="643018" y="643018"/>
                  </a:lnTo>
                  <a:lnTo>
                    <a:pt x="0" y="643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 rot="0">
              <a:off x="817003" y="-19050"/>
              <a:ext cx="2350986" cy="3619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44"/>
                </a:lnSpc>
                <a:spcBef>
                  <a:spcPct val="0"/>
                </a:spcBef>
              </a:pPr>
              <a:r>
                <a:rPr lang="en-US" sz="468" spc="9">
                  <a:solidFill>
                    <a:srgbClr val="FFFFFF">
                      <a:alpha val="0"/>
                    </a:srgbClr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RADAR répond à la question posée par le module M244 : comment transformer </a:t>
              </a:r>
              <a:r>
                <a:rPr lang="en-US" sz="468" spc="9">
                  <a:solidFill>
                    <a:srgbClr val="FFFFFF">
                      <a:alpha val="0"/>
                    </a:srgbClr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la méthodologie de veille strategique en un produit opérationnel </a:t>
              </a:r>
              <a:r>
                <a:rPr lang="en-US" sz="468" spc="9">
                  <a:solidFill>
                    <a:srgbClr val="FFFFFF">
                      <a:alpha val="0"/>
                    </a:srgbClr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Qui</a:t>
              </a:r>
              <a:r>
                <a:rPr lang="en-US" sz="468" spc="9">
                  <a:solidFill>
                    <a:srgbClr val="FFFFFF">
                      <a:alpha val="0"/>
                    </a:srgbClr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automatise le cycle de bout en bout ? 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817003" y="449787"/>
              <a:ext cx="2472765" cy="6110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44"/>
                </a:lnSpc>
              </a:pPr>
              <a:r>
                <a:rPr lang="en-US" sz="468" spc="9">
                  <a:solidFill>
                    <a:srgbClr val="FFFFFF">
                      <a:alpha val="0"/>
                    </a:srgbClr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La réponse que nous avons construite</a:t>
              </a:r>
              <a:r>
                <a:rPr lang="en-US" sz="468" spc="9">
                  <a:solidFill>
                    <a:srgbClr val="FFFFFF">
                      <a:alpha val="0"/>
                    </a:srgbClr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n’est pas qu’une démonstration academique, c’est un logiciel déployable qui collecte, evalue, analyse et synthetise quotidiennement des informations concurrentielles pour une entreprise donnee</a:t>
              </a:r>
            </a:p>
            <a:p>
              <a:pPr algn="l">
                <a:lnSpc>
                  <a:spcPts val="744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  <p:transition spd="slow">
    <p:fade/>
  </p:transition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35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3177" y="1993869"/>
            <a:ext cx="5827334" cy="6612577"/>
          </a:xfrm>
          <a:custGeom>
            <a:avLst/>
            <a:gdLst/>
            <a:ahLst/>
            <a:cxnLst/>
            <a:rect r="r" b="b" t="t" l="l"/>
            <a:pathLst>
              <a:path h="6612577" w="5827334">
                <a:moveTo>
                  <a:pt x="0" y="0"/>
                </a:moveTo>
                <a:lnTo>
                  <a:pt x="5827333" y="0"/>
                </a:lnTo>
                <a:lnTo>
                  <a:pt x="5827333" y="6612577"/>
                </a:lnTo>
                <a:lnTo>
                  <a:pt x="0" y="66125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090490" y="9548710"/>
            <a:ext cx="4372889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Module: Technique de veille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472162" y="297309"/>
            <a:ext cx="2517458" cy="46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399" spc="47">
                <a:solidFill>
                  <a:srgbClr val="FFFFFF">
                    <a:alpha val="60000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BDIA2 2025-2026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792681" y="3836180"/>
            <a:ext cx="13002135" cy="3711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14"/>
              </a:lnSpc>
              <a:spcBef>
                <a:spcPct val="0"/>
              </a:spcBef>
            </a:pPr>
            <a:r>
              <a:rPr lang="en-US" sz="19631" spc="392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5170FF">
                        <a:alpha val="100000"/>
                      </a:srgbClr>
                    </a:gs>
                  </a:gsLst>
                  <a:lin ang="0"/>
                </a:gradFill>
                <a:latin typeface="Anton"/>
                <a:ea typeface="Anton"/>
                <a:cs typeface="Anton"/>
                <a:sym typeface="Anton"/>
              </a:rPr>
              <a:t>Choukrane</a:t>
            </a:r>
          </a:p>
        </p:txBody>
      </p:sp>
    </p:spTree>
  </p:cSld>
  <p:clrMapOvr>
    <a:masterClrMapping/>
  </p:clrMapOvr>
  <p:transition spd="slow">
    <p:wipe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DAHLJg6M62o</dc:identifier>
  <dcterms:modified xsi:type="dcterms:W3CDTF">2011-08-01T06:04:30Z</dcterms:modified>
  <cp:revision>1</cp:revision>
  <dc:title>RaDAR</dc:title>
</cp:coreProperties>
</file>